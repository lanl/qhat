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316bc2fa754a11" /><Relationship Type="http://schemas.openxmlformats.org/officeDocument/2006/relationships/extended-properties" Target="/docProps/app.xml" Id="R49767528c67e4264" /><Relationship Type="http://schemas.openxmlformats.org/officeDocument/2006/relationships/officeDocument" Target="/ppt/presentation.xml" Id="R17558dc438d44539" /></Relationships>
</file>

<file path=ppt/presentation.xml><?xml version="1.0" encoding="utf-8"?>
<p:presentation xmlns:p="http://schemas.openxmlformats.org/presentationml/2006/main">
  <p:sldMasterIdLst>
    <p:sldMasterId xmlns:r="http://schemas.openxmlformats.org/officeDocument/2006/relationships" id="2147483648" r:id="R6f8b32ffdb984c00"/>
  </p:sldMasterIdLst>
  <p:notesMasterIdLst>
    <p:notesMasterId xmlns:r="http://schemas.openxmlformats.org/officeDocument/2006/relationships" r:id="R0147d5fe4ff44ad3"/>
  </p:notesMasterIdLst>
  <p:sldIdLst>
    <p:sldId xmlns:r="http://schemas.openxmlformats.org/officeDocument/2006/relationships" id="256" r:id="Rb1369b2218e54462"/>
    <p:sldId xmlns:r="http://schemas.openxmlformats.org/officeDocument/2006/relationships" id="257" r:id="R1e13d25bbee84f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9eb66711474c07" /><Relationship Type="http://schemas.openxmlformats.org/officeDocument/2006/relationships/slideMaster" Target="/ppt/slideMasters/slideMaster1.xml" Id="R6f8b32ffdb984c00" /><Relationship Type="http://schemas.openxmlformats.org/officeDocument/2006/relationships/notesMaster" Target="/ppt/notesMasters/notesMaster1.xml" Id="R0147d5fe4ff44ad3" /><Relationship Type="http://schemas.openxmlformats.org/officeDocument/2006/relationships/presProps" Target="/ppt/presProps.xml" Id="Rab8db0184afc4b6b" /><Relationship Type="http://schemas.openxmlformats.org/officeDocument/2006/relationships/tableStyles" Target="/ppt/tableStyles.xml" Id="R8a70c37931d74377" /><Relationship Type="http://schemas.openxmlformats.org/officeDocument/2006/relationships/slide" Target="/ppt/slides/slide1.xml" Id="Rb1369b2218e54462" /><Relationship Type="http://schemas.openxmlformats.org/officeDocument/2006/relationships/slide" Target="/ppt/slides/slide2.xml" Id="R1e13d25bbee84f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0b1ffd5cea49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f5060109af4239" /><Relationship Type="http://schemas.openxmlformats.org/officeDocument/2006/relationships/notesMaster" Target="/ppt/notesMasters/notesMaster1.xml" Id="Rcda5a7a390774a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a99690cf2f42f6" /><Relationship Type="http://schemas.openxmlformats.org/officeDocument/2006/relationships/notesMaster" Target="/ppt/notesMasters/notesMaster1.xml" Id="Rc4aa5b9fbb7346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 (about 50 seconds)</a:t>
            </a:r>
          </a:p>
          <a:p xmlns:a="http://schemas.openxmlformats.org/drawingml/2006/main">
            <a:r>
              <a:t/>
            </a:r>
          </a:p>
          <a:p xmlns:a="http://schemas.openxmlformats.org/drawingml/2006/main">
            <a:r>
              <a:t>Just a quick update on the fermionic ordering work. The idea is to order fermionic parent terms by signed coefficient, then keep their assigned Pauli terms together. The Hamiltonian stays the same.</a:t>
            </a:r>
          </a:p>
          <a:p xmlns:a="http://schemas.openxmlformats.org/drawingml/2006/main">
            <a:r>
              <a:t/>
            </a:r>
          </a:p>
          <a:p xmlns:a="http://schemas.openxmlformats.org/drawingml/2006/main">
            <a:r>
              <a:t>What helps here is symmetry protection. In the cases we checked, complete blocks preserve electron number and spin projection, preventing leakage out of the physical sector.</a:t>
            </a:r>
          </a:p>
          <a:p xmlns:a="http://schemas.openxmlformats.org/drawingml/2006/main">
            <a:r>
              <a:t/>
            </a:r>
          </a:p>
          <a:p xmlns:a="http://schemas.openxmlformats.org/drawingml/2006/main">
            <a:r>
              <a:t>But errors can still accumulate inside that sector. So symmetry gives us one useful benefit, without guaranteeing the most accurate ordering. That is what I have been trying to understand in the follow-up.</a:t>
            </a:r>
          </a:p>
          <a:p xmlns:a="http://schemas.openxmlformats.org/drawingml/2006/main">
            <a:r>
              <a:t/>
            </a:r>
          </a:p>
          <a:p xmlns:a="http://schemas.openxmlformats.org/drawingml/2006/main">
            <a:r>
              <a:t>SOURCE NOTES</a:t>
            </a:r>
          </a:p>
          <a:p xmlns:a="http://schemas.openxmlformats.org/drawingml/2006/main">
            <a:r>
              <a:t/>
            </a:r>
          </a:p>
          <a:p xmlns:a="http://schemas.openxmlformats.org/drawingml/2006/main">
            <a:r>
              <a:t>/Users/albertlee0125/Repos/qhat/codex_mechanism_experiment/RESULTS_KO.md, section4, and EXPLORATORY_ADDENDUM.md. Definition also in Manuscript.zip/main.tex: increasing signed parent coefficients and first-occurrence ownership of globally merged Pauli terms, with unchanged final coefficients and Hamiltonian.</a:t>
            </a:r>
          </a:p>
          <a:p xmlns:a="http://schemas.openxmlformats.org/drawingml/2006/main">
            <a:r>
              <a:t>Checked blocks have commuting Pauli descendants and block Hamiltonians commuting with Nalpha and Nbeta to numerical precision. Complete block evolution preserves N=Nalpha+Nbeta and Sz=(Nalpha-Nbeta)/2. Individual Pauli prefixes need not preserve them. This is not a claim about total-spin S^2 or arbitrary fermionic grouping. Error within the conserved sector and inter-block error accumulation remain. Structural results explain a benefit, not universal accuracy dominance.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 (about 70 seconds)</a:t>
            </a:r>
          </a:p>
          <a:p xmlns:a="http://schemas.openxmlformats.org/drawingml/2006/main">
            <a:r>
              <a:t/>
            </a:r>
          </a:p>
          <a:p xmlns:a="http://schemas.openxmlformats.org/drawingml/2006/main">
            <a:r>
              <a:t>Since the last presentation, I checked block permutations and followed how errors accumulate in F2, NH3, and Li2. In F2, the better ordering actually changes with time. Propagating the local error explains this reversal, which the initial BCH norm alone misses.</a:t>
            </a:r>
          </a:p>
          <a:p xmlns:a="http://schemas.openxmlformats.org/drawingml/2006/main">
            <a:r>
              <a:t/>
            </a:r>
          </a:p>
          <a:p xmlns:a="http://schemas.openxmlformats.org/drawingml/2006/main">
            <a:r>
              <a:t>I then tested the prediction on four new molecules and repeated the calculations. The error predictions were accurate, but fermionic ordering did not consistently win. A simple BCH proxy also ranked the new cases correctly, so we have not yet shown better ordering selection.</a:t>
            </a:r>
          </a:p>
          <a:p xmlns:a="http://schemas.openxmlformats.org/drawingml/2006/main">
            <a:r>
              <a:t/>
            </a:r>
          </a:p>
          <a:p xmlns:a="http://schemas.openxmlformats.org/drawingml/2006/main">
            <a:r>
              <a:t>The main progress is understanding why an ordering succeeds or fails. Next, I want to compare stronger baselines and check whether the conclusions hold across different orbitals and active spaces.</a:t>
            </a:r>
          </a:p>
          <a:p xmlns:a="http://schemas.openxmlformats.org/drawingml/2006/main">
            <a:r>
              <a:t/>
            </a:r>
          </a:p>
          <a:p xmlns:a="http://schemas.openxmlformats.org/drawingml/2006/main">
            <a:r>
              <a:t>SOURCE NOTES</a:t>
            </a:r>
          </a:p>
          <a:p xmlns:a="http://schemas.openxmlformats.org/drawingml/2006/main">
            <a:r>
              <a:t/>
            </a:r>
          </a:p>
          <a:p xmlns:a="http://schemas.openxmlformats.org/drawingml/2006/main">
            <a:r>
              <a:t>/Users/albertlee0125/Repos/qhat/codex_mechanism_experiment/RESULTS_KO.md:129 main configurations and63 decompositions, with3 exploratory F2 configurations atT=.75. F2 JW signed/Fermionic E ratios at r100 are12.553 atT.25 and.411 atT1. The leading-error propagation is unfitted and accounts for the reversal. Both accumulation factors atT1,r100 exceed1, so reduced constructive accumulation is the accurate description there.</a:t>
            </a:r>
          </a:p>
          <a:p xmlns:a="http://schemas.openxmlformats.org/drawingml/2006/main">
            <a:r>
              <a:t>/Users/albertlee0125/Repos/qhat/codex_external_validation/RESULTS_KO.md and PROTOCOL.md:HCN,CH2O,H2S,SiH4, two idealized geometries each,6-31g,CAS(4e,5o),HF,first order.272 configurations repeated in a separate process. Predictions saved before target calculations.143/143 eligible r100/r200 comparisons satisfy&lt;=5% relative infidelity difference. JW signed wins6/8 anchors andFermionic2/8. Both dynamic and staticHF-BCH proxies rank72/72 eligible pairs correctly, so better ordering selection is unproven. No best-order reversal occurred in the new panel.</a:t>
            </a:r>
          </a:p>
          <a:p xmlns:a="http://schemas.openxmlformats.org/drawingml/2006/main">
            <a:r>
              <a:t>Uncommitted source folders:codex_mechanism_experiment and codex_external_validation. These are fixed-input numerical studies with a limited scope. /Users/albertlee0125/Repos/qhat/codex_external_validation/NOVELTY_KO.md identifies stronger-comparator and orbital/active-space tests as next steps. Six historical metric discrepancies from the earlier reproducibility audit remain unresolved; the new campaigns use frozen current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bc4ae3bbd241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eb3254360e48fe" /><Relationship Type="http://schemas.openxmlformats.org/officeDocument/2006/relationships/slideLayout" Target="/ppt/slideLayouts/slideLayout1.xml" Id="R701e63147b2448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1e63147b2448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001caf2eaa4348" /><Relationship Type="http://schemas.openxmlformats.org/officeDocument/2006/relationships/notesSlide" Target="/ppt/notesSlides/notesSlide1.xml" Id="R76a16323ac2c4e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16067794a942d1" /><Relationship Type="http://schemas.openxmlformats.org/officeDocument/2006/relationships/notesSlide" Target="/ppt/notesSlides/notesSlide2.xml" Id="R00e6264f460f46a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7ECA11-CC07-4ECB-B2E5-5F876B3817CB}"/>
              </a:ext>
            </a:extLst>
          </p:cNvPr>
          <p:cNvSpPr>
            <a:spLocks xmlns:a="http://schemas.openxmlformats.org/drawingml/2006/main" noGrp="1"/>
          </p:cNvSpPr>
          <p:nvPr/>
        </p:nvSpPr>
        <p:spPr>
          <a:xfrm xmlns:a="http://schemas.openxmlformats.org/drawingml/2006/main">
            <a:off x="628650" y="50482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200" b="1">
                <a:solidFill>
                  <a:srgbClr val="09295C"/>
                </a:solidFill>
                <a:latin typeface="Helvetica Neue"/>
                <a:ea typeface="Helvetica Neue"/>
                <a:cs typeface="Helvetica Neue"/>
              </a:defRPr>
            </a:pPr>
            <a:r>
              <a:rPr sz="4200" b="1">
                <a:solidFill>
                  <a:srgbClr val="09295C"/>
                </a:solidFill>
                <a:latin typeface="Helvetica Neue"/>
                <a:ea typeface="Helvetica Neue"/>
                <a:cs typeface="Helvetica Neue"/>
              </a:rPr>
              <a:t>Fermionic ordering and symmetry</a:t>
            </a:r>
          </a:p>
        </p:txBody>
      </p:sp>
      <p:sp>
        <p:nvSpPr>
          <p:cNvPr id="2" name="">
            <a:extLst xmlns:a="http://schemas.openxmlformats.org/drawingml/2006/main">
              <a:ext uri="{FF2B5EF4-FFF2-40B4-BE49-F238E27FC236}">
                <a16:creationId xmlns:a16="http://schemas.microsoft.com/office/drawing/2014/main" id="{02F9B169-715F-4465-B294-DFD805593499}"/>
              </a:ext>
            </a:extLst>
          </p:cNvPr>
          <p:cNvSpPr>
            <a:spLocks xmlns:a="http://schemas.openxmlformats.org/drawingml/2006/main" noGrp="1"/>
          </p:cNvSpPr>
          <p:nvPr/>
        </p:nvSpPr>
        <p:spPr>
          <a:xfrm xmlns:a="http://schemas.openxmlformats.org/drawingml/2006/main">
            <a:off x="742950" y="2057400"/>
            <a:ext cx="105346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304800" indent="-152400">
              <a:spcAft>
                <a:spcPts val="2200"/>
              </a:spcAft>
              <a:buChar char="•"/>
              <a:defRPr sz="2625" b="0">
                <a:solidFill>
                  <a:srgbClr val="202B38"/>
                </a:solidFill>
                <a:latin typeface="Helvetica Neue"/>
                <a:ea typeface="Helvetica Neue"/>
                <a:cs typeface="Helvetica Neue"/>
              </a:defRPr>
            </a:pPr>
            <a:r>
              <a:rPr sz="2625" b="0">
                <a:solidFill>
                  <a:srgbClr val="202B38"/>
                </a:solidFill>
                <a:latin typeface="Helvetica Neue"/>
                <a:ea typeface="Helvetica Neue"/>
                <a:cs typeface="Helvetica Neue"/>
              </a:rPr>
              <a:t>Sort fermionic parents by signed coefficient and keep their Pauli blocks together.</a:t>
            </a:r>
          </a:p>
          <a:p xmlns:a="http://schemas.openxmlformats.org/drawingml/2006/main">
            <a:pPr marL="304800" indent="-152400">
              <a:spcAft>
                <a:spcPts val="2200"/>
              </a:spcAft>
              <a:buChar char="•"/>
              <a:defRPr sz="2625" b="0">
                <a:solidFill>
                  <a:srgbClr val="202B38"/>
                </a:solidFill>
                <a:latin typeface="Helvetica Neue"/>
                <a:ea typeface="Helvetica Neue"/>
                <a:cs typeface="Helvetica Neue"/>
              </a:defRPr>
            </a:pPr>
            <a:r>
              <a:rPr sz="2625" b="0">
                <a:solidFill>
                  <a:srgbClr val="202B38"/>
                </a:solidFill>
                <a:latin typeface="Helvetica Neue"/>
                <a:ea typeface="Helvetica Neue"/>
                <a:cs typeface="Helvetica Neue"/>
              </a:rPr>
              <a:t>In the tested cases, complete blocks preserve electron number and spin projection.</a:t>
            </a:r>
          </a:p>
        </p:txBody>
      </p:sp>
      <p:sp>
        <p:nvSpPr>
          <p:cNvPr id="3" name="">
            <a:extLst xmlns:a="http://schemas.openxmlformats.org/drawingml/2006/main">
              <a:ext uri="{FF2B5EF4-FFF2-40B4-BE49-F238E27FC236}">
                <a16:creationId xmlns:a16="http://schemas.microsoft.com/office/drawing/2014/main" id="{288C12AB-4600-4264-9B09-55F9AB5139C8}"/>
              </a:ext>
            </a:extLst>
          </p:cNvPr>
          <p:cNvSpPr>
            <a:spLocks xmlns:a="http://schemas.openxmlformats.org/drawingml/2006/main" noGrp="1"/>
          </p:cNvSpPr>
          <p:nvPr/>
        </p:nvSpPr>
        <p:spPr>
          <a:xfrm xmlns:a="http://schemas.openxmlformats.org/drawingml/2006/main">
            <a:off x="685800" y="57245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8F83"/>
                </a:solidFill>
                <a:latin typeface="Helvetica Neue"/>
                <a:ea typeface="Helvetica Neue"/>
                <a:cs typeface="Helvetica Neue"/>
              </a:defRPr>
            </a:pPr>
            <a:r>
              <a:rPr sz="2325" b="1">
                <a:solidFill>
                  <a:srgbClr val="008F83"/>
                </a:solidFill>
                <a:latin typeface="Helvetica Neue"/>
                <a:ea typeface="Helvetica Neue"/>
                <a:cs typeface="Helvetica Neue"/>
              </a:rPr>
              <a:t>Symmetry controls leakage. Error accumulation still matters.</a:t>
            </a:r>
          </a:p>
        </p:txBody>
      </p:sp>
      <p:sp>
        <p:nvSpPr>
          <p:cNvPr id="4" name="">
            <a:extLst xmlns:a="http://schemas.openxmlformats.org/drawingml/2006/main">
              <a:ext uri="{FF2B5EF4-FFF2-40B4-BE49-F238E27FC236}">
                <a16:creationId xmlns:a16="http://schemas.microsoft.com/office/drawing/2014/main" id="{1C927A3C-E310-4582-A67D-ED7CF5E8C8CF}"/>
              </a:ext>
            </a:extLst>
          </p:cNvPr>
          <p:cNvSpPr>
            <a:spLocks xmlns:a="http://schemas.openxmlformats.org/drawingml/2006/main" noGrp="1"/>
          </p:cNvSpPr>
          <p:nvPr/>
        </p:nvSpPr>
        <p:spPr>
          <a:xfrm xmlns:a="http://schemas.openxmlformats.org/drawingml/2006/main">
            <a:off x="10934700" y="6448425"/>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1 / 2</a:t>
            </a:r>
          </a:p>
        </p:txBody>
      </p:sp>
    </p:spTree>
    <p:extLst>
      <p:ext uri="{BB962C8B-B14F-4D97-AF65-F5344CB8AC3E}">
        <p14:creationId xmlns:p14="http://schemas.microsoft.com/office/powerpoint/2010/main" val="13414915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5F6704-C398-41DE-8C70-EEEEE0A3DC77}"/>
              </a:ext>
            </a:extLst>
          </p:cNvPr>
          <p:cNvSpPr>
            <a:spLocks xmlns:a="http://schemas.openxmlformats.org/drawingml/2006/main" noGrp="1"/>
          </p:cNvSpPr>
          <p:nvPr/>
        </p:nvSpPr>
        <p:spPr>
          <a:xfrm xmlns:a="http://schemas.openxmlformats.org/drawingml/2006/main">
            <a:off x="628650" y="50482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200" b="1">
                <a:solidFill>
                  <a:srgbClr val="09295C"/>
                </a:solidFill>
                <a:latin typeface="Helvetica Neue"/>
                <a:ea typeface="Helvetica Neue"/>
                <a:cs typeface="Helvetica Neue"/>
              </a:defRPr>
            </a:pPr>
            <a:r>
              <a:rPr sz="4200" b="1">
                <a:solidFill>
                  <a:srgbClr val="09295C"/>
                </a:solidFill>
                <a:latin typeface="Helvetica Neue"/>
                <a:ea typeface="Helvetica Neue"/>
                <a:cs typeface="Helvetica Neue"/>
              </a:rPr>
              <a:t>Recent progress</a:t>
            </a:r>
          </a:p>
        </p:txBody>
      </p:sp>
      <p:sp>
        <p:nvSpPr>
          <p:cNvPr id="2" name="">
            <a:extLst xmlns:a="http://schemas.openxmlformats.org/drawingml/2006/main">
              <a:ext uri="{FF2B5EF4-FFF2-40B4-BE49-F238E27FC236}">
                <a16:creationId xmlns:a16="http://schemas.microsoft.com/office/drawing/2014/main" id="{2354EE94-FEF8-43CD-BE96-47C392A0A2D5}"/>
              </a:ext>
            </a:extLst>
          </p:cNvPr>
          <p:cNvSpPr>
            <a:spLocks xmlns:a="http://schemas.openxmlformats.org/drawingml/2006/main" noGrp="1"/>
          </p:cNvSpPr>
          <p:nvPr/>
        </p:nvSpPr>
        <p:spPr>
          <a:xfrm xmlns:a="http://schemas.openxmlformats.org/drawingml/2006/main">
            <a:off x="742950" y="2057400"/>
            <a:ext cx="105346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304800" indent="-152400">
              <a:spcAft>
                <a:spcPts val="2200"/>
              </a:spcAft>
              <a:buChar char="•"/>
              <a:defRPr sz="2625" b="0">
                <a:solidFill>
                  <a:srgbClr val="202B38"/>
                </a:solidFill>
                <a:latin typeface="Helvetica Neue"/>
                <a:ea typeface="Helvetica Neue"/>
                <a:cs typeface="Helvetica Neue"/>
              </a:defRPr>
            </a:pPr>
            <a:r>
              <a:rPr sz="2625" b="0">
                <a:solidFill>
                  <a:srgbClr val="202B38"/>
                </a:solidFill>
                <a:latin typeface="Helvetica Neue"/>
                <a:ea typeface="Helvetica Neue"/>
                <a:cs typeface="Helvetica Neue"/>
              </a:rPr>
              <a:t>Checked block structure and error accumulation in F₂, NH₃ and Li₂.</a:t>
            </a:r>
          </a:p>
          <a:p xmlns:a="http://schemas.openxmlformats.org/drawingml/2006/main">
            <a:pPr marL="304800" indent="-152400">
              <a:spcAft>
                <a:spcPts val="2200"/>
              </a:spcAft>
              <a:buChar char="•"/>
              <a:defRPr sz="2625" b="0">
                <a:solidFill>
                  <a:srgbClr val="202B38"/>
                </a:solidFill>
                <a:latin typeface="Helvetica Neue"/>
                <a:ea typeface="Helvetica Neue"/>
                <a:cs typeface="Helvetica Neue"/>
              </a:defRPr>
            </a:pPr>
            <a:r>
              <a:rPr sz="2625" b="0">
                <a:solidFill>
                  <a:srgbClr val="202B38"/>
                </a:solidFill>
                <a:latin typeface="Helvetica Neue"/>
                <a:ea typeface="Helvetica Neue"/>
                <a:cs typeface="Helvetica Neue"/>
              </a:rPr>
              <a:t>Explained why the better ordering in F₂ changes with evolution time.</a:t>
            </a:r>
          </a:p>
          <a:p xmlns:a="http://schemas.openxmlformats.org/drawingml/2006/main">
            <a:pPr marL="304800" indent="-152400">
              <a:spcAft>
                <a:spcPts val="2200"/>
              </a:spcAft>
              <a:buChar char="•"/>
              <a:defRPr sz="2625" b="0">
                <a:solidFill>
                  <a:srgbClr val="202B38"/>
                </a:solidFill>
                <a:latin typeface="Helvetica Neue"/>
                <a:ea typeface="Helvetica Neue"/>
                <a:cs typeface="Helvetica Neue"/>
              </a:defRPr>
            </a:pPr>
            <a:r>
              <a:rPr sz="2625" b="0">
                <a:solidFill>
                  <a:srgbClr val="202B38"/>
                </a:solidFill>
                <a:latin typeface="Helvetica Neue"/>
                <a:ea typeface="Helvetica Neue"/>
                <a:cs typeface="Helvetica Neue"/>
              </a:rPr>
              <a:t>Predictions transferred to four new molecules, but fermionic ordering did not always win.</a:t>
            </a:r>
          </a:p>
        </p:txBody>
      </p:sp>
      <p:sp>
        <p:nvSpPr>
          <p:cNvPr id="3" name="">
            <a:extLst xmlns:a="http://schemas.openxmlformats.org/drawingml/2006/main">
              <a:ext uri="{FF2B5EF4-FFF2-40B4-BE49-F238E27FC236}">
                <a16:creationId xmlns:a16="http://schemas.microsoft.com/office/drawing/2014/main" id="{B39CEC3A-8B8B-4B5B-8F0A-A7AACF68F5AF}"/>
              </a:ext>
            </a:extLst>
          </p:cNvPr>
          <p:cNvSpPr>
            <a:spLocks xmlns:a="http://schemas.openxmlformats.org/drawingml/2006/main" noGrp="1"/>
          </p:cNvSpPr>
          <p:nvPr/>
        </p:nvSpPr>
        <p:spPr>
          <a:xfrm xmlns:a="http://schemas.openxmlformats.org/drawingml/2006/main">
            <a:off x="685800" y="57245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8F83"/>
                </a:solidFill>
                <a:latin typeface="Helvetica Neue"/>
                <a:ea typeface="Helvetica Neue"/>
                <a:cs typeface="Helvetica Neue"/>
              </a:defRPr>
            </a:pPr>
            <a:r>
              <a:rPr sz="2325" b="1">
                <a:solidFill>
                  <a:srgbClr val="008F83"/>
                </a:solidFill>
                <a:latin typeface="Helvetica Neue"/>
                <a:ea typeface="Helvetica Neue"/>
                <a:cs typeface="Helvetica Neue"/>
              </a:rPr>
              <a:t>Next: stronger baselines and orbital / active-space checks.</a:t>
            </a:r>
          </a:p>
        </p:txBody>
      </p:sp>
      <p:sp>
        <p:nvSpPr>
          <p:cNvPr id="4" name="">
            <a:extLst xmlns:a="http://schemas.openxmlformats.org/drawingml/2006/main">
              <a:ext uri="{FF2B5EF4-FFF2-40B4-BE49-F238E27FC236}">
                <a16:creationId xmlns:a16="http://schemas.microsoft.com/office/drawing/2014/main" id="{45CE05D6-00FC-4156-A807-DE7ECA5930B3}"/>
              </a:ext>
            </a:extLst>
          </p:cNvPr>
          <p:cNvSpPr>
            <a:spLocks xmlns:a="http://schemas.openxmlformats.org/drawingml/2006/main" noGrp="1"/>
          </p:cNvSpPr>
          <p:nvPr/>
        </p:nvSpPr>
        <p:spPr>
          <a:xfrm xmlns:a="http://schemas.openxmlformats.org/drawingml/2006/main">
            <a:off x="10934700" y="6448425"/>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2 / 2</a:t>
            </a:r>
          </a:p>
        </p:txBody>
      </p:sp>
    </p:spTree>
    <p:extLst>
      <p:ext uri="{BB962C8B-B14F-4D97-AF65-F5344CB8AC3E}">
        <p14:creationId xmlns:p14="http://schemas.microsoft.com/office/powerpoint/2010/main" val="3707465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2026-10-06T16:26:20.4490000Z</dcterms:created>
  <dcterms:modified xsi:type="dcterms:W3CDTF">2026-10-06T16:26:20.4490000Z</dcterms:modified>
</coreProperties>
</file>