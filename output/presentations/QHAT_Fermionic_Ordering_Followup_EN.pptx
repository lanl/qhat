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05a5a2d02d468c" /><Relationship Type="http://schemas.openxmlformats.org/officeDocument/2006/relationships/extended-properties" Target="/docProps/app.xml" Id="R9d1433fc0bd947a1" /><Relationship Type="http://schemas.openxmlformats.org/officeDocument/2006/relationships/officeDocument" Target="/ppt/presentation.xml" Id="R4303367564a94eb3" /></Relationships>
</file>

<file path=ppt/presentation.xml><?xml version="1.0" encoding="utf-8"?>
<p:presentation xmlns:p="http://schemas.openxmlformats.org/presentationml/2006/main">
  <p:sldMasterIdLst>
    <p:sldMasterId xmlns:r="http://schemas.openxmlformats.org/officeDocument/2006/relationships" id="2147483648" r:id="R42dca256eb364152"/>
  </p:sldMasterIdLst>
  <p:notesMasterIdLst>
    <p:notesMasterId xmlns:r="http://schemas.openxmlformats.org/officeDocument/2006/relationships" r:id="Rfa4a82339ca948fe"/>
  </p:notesMasterIdLst>
  <p:sldIdLst>
    <p:sldId xmlns:r="http://schemas.openxmlformats.org/officeDocument/2006/relationships" id="256" r:id="Ref521af4f2fa469e"/>
    <p:sldId xmlns:r="http://schemas.openxmlformats.org/officeDocument/2006/relationships" id="257" r:id="Rd097026fe81a4681"/>
    <p:sldId xmlns:r="http://schemas.openxmlformats.org/officeDocument/2006/relationships" id="258" r:id="Rcfaa099c4a9549ea"/>
    <p:sldId xmlns:r="http://schemas.openxmlformats.org/officeDocument/2006/relationships" id="259" r:id="R2de78bb7c87a46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2f0385f2fd4739" /><Relationship Type="http://schemas.openxmlformats.org/officeDocument/2006/relationships/slideMaster" Target="/ppt/slideMasters/slideMaster1.xml" Id="R42dca256eb364152" /><Relationship Type="http://schemas.openxmlformats.org/officeDocument/2006/relationships/notesMaster" Target="/ppt/notesMasters/notesMaster1.xml" Id="Rfa4a82339ca948fe" /><Relationship Type="http://schemas.openxmlformats.org/officeDocument/2006/relationships/presProps" Target="/ppt/presProps.xml" Id="R492e7334131f47f1" /><Relationship Type="http://schemas.openxmlformats.org/officeDocument/2006/relationships/tableStyles" Target="/ppt/tableStyles.xml" Id="R331b789da86148df" /><Relationship Type="http://schemas.openxmlformats.org/officeDocument/2006/relationships/slide" Target="/ppt/slides/slide1.xml" Id="Ref521af4f2fa469e" /><Relationship Type="http://schemas.openxmlformats.org/officeDocument/2006/relationships/slide" Target="/ppt/slides/slide2.xml" Id="Rd097026fe81a4681" /><Relationship Type="http://schemas.openxmlformats.org/officeDocument/2006/relationships/slide" Target="/ppt/slides/slide3.xml" Id="Rcfaa099c4a9549ea" /><Relationship Type="http://schemas.openxmlformats.org/officeDocument/2006/relationships/slide" Target="/ppt/slides/slide4.xml" Id="R2de78bb7c87a46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274d7bc6d14b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99e2e13f224a67" /><Relationship Type="http://schemas.openxmlformats.org/officeDocument/2006/relationships/notesMaster" Target="/ppt/notesMasters/notesMaster1.xml" Id="Ra004608a84294c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dfc52faa2945cd" /><Relationship Type="http://schemas.openxmlformats.org/officeDocument/2006/relationships/notesMaster" Target="/ppt/notesMasters/notesMaster1.xml" Id="R971d30ff1d6c4d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92412b621748c3" /><Relationship Type="http://schemas.openxmlformats.org/officeDocument/2006/relationships/notesMaster" Target="/ppt/notesMasters/notesMaster1.xml" Id="Rd78701d411b846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f07520c66c4193" /><Relationship Type="http://schemas.openxmlformats.org/officeDocument/2006/relationships/notesMaster" Target="/ppt/notesMasters/notesMaster1.xml" Id="Re8b45f01b95b48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
            </a:r>
          </a:p>
          <a:p xmlns:a="http://schemas.openxmlformats.org/drawingml/2006/main">
            <a:r>
              <a:t>Let me first define the ordering used here. We sort Hermitian fermionic parent terms by increasing signed coefficient. We then traverse their Pauli descendants, assign each merged Pauli term to its first parent, and keep those blocks together. The final Hamiltonian and coefficients stay the same.</a:t>
            </a:r>
          </a:p>
          <a:p xmlns:a="http://schemas.openxmlformats.org/drawingml/2006/main">
            <a:r>
              <a:t/>
            </a:r>
          </a:p>
          <a:p xmlns:a="http://schemas.openxmlformats.org/drawingml/2006/main">
            <a:r>
              <a:t>The structural benefit is symmetry protection. In the blocks we checked, the Pauli terms commute, and the block Hamiltonian conserves the numbers of alpha and beta electrons. Completing a block therefore preserves electron number and spin projection, suppressing leakage outside the physical sector.</a:t>
            </a:r>
          </a:p>
          <a:p xmlns:a="http://schemas.openxmlformats.org/drawingml/2006/main">
            <a:r>
              <a:t/>
            </a:r>
          </a:p>
          <a:p xmlns:a="http://schemas.openxmlformats.org/drawingml/2006/main">
            <a:r>
              <a:t>That explains one way this ordering can help. But errors can still develop inside the correct sector. The order of different blocks and the way their errors accumulate over time also matter. So the follow-up separates symmetry protection from final accuracy.</a:t>
            </a:r>
          </a:p>
          <a:p xmlns:a="http://schemas.openxmlformats.org/drawingml/2006/main">
            <a:r>
              <a:t/>
            </a:r>
          </a:p>
          <a:p xmlns:a="http://schemas.openxmlformats.org/drawingml/2006/main">
            <a:r>
              <a:t>SOURCE NOTES</a:t>
            </a:r>
          </a:p>
          <a:p xmlns:a="http://schemas.openxmlformats.org/drawingml/2006/main">
            <a:r>
              <a:t/>
            </a:r>
          </a:p>
          <a:p xmlns:a="http://schemas.openxmlformats.org/drawingml/2006/main">
            <a:r>
              <a:t>Definition: Manuscript.zip/main.tex, Fermionic-Induced Pauli Ordering; signed parents sorted in increasing coefficient order and merged final Pauli products assigned by first occurrence. The Pauli list and final merged coefficients are unchanged.</a:t>
            </a:r>
          </a:p>
          <a:p xmlns:a="http://schemas.openxmlformats.org/drawingml/2006/main">
            <a:r>
              <a:t>/Users/albertlee0125/Repos/qhat/codex_mechanism_experiment/RESULTS_KO.md, section 4, and EXPLORATORY_ADDENDUM.md: all checked parent-owned blocks have commuting Pauli descendants; block commutators with N, Nalpha, Nbeta have only numerical residuals. This sufficient condition makes a complete block product equal exp(-i dt Hblock) and preserves Nalpha and Nbeta. Individual Pauli prefixes need not preserve them. N=Nalpha+Nbeta and Sz=(Nalpha-Nbeta)/2. This is not a claim of total-spin S^2 conservation.</a:t>
            </a:r>
          </a:p>
          <a:p xmlns:a="http://schemas.openxmlformats.org/drawingml/2006/main">
            <a:r>
              <a:t>For a normalized Trotter state and an exact state in sector P, phase-independent infidelity splits into orthogonal in-sector error plus outside-sector probability. Removing leakage does not minimize the in-sector component. Block order also affects inter-block BCH contributions and their propagation.</a:t>
            </a:r>
          </a:p>
          <a:p xmlns:a="http://schemas.openxmlformats.org/drawingml/2006/main">
            <a:r>
              <a:t>/Users/albertlee0125/Repos/qhat/codex_external_validation/RESULTS_KO.md, structure/control section: the same structural checks hold in the eight new inputs, but JW signed has smaller total error in six of eight anchors. Symmetry is a verified structural benefit, not the sole causal explanation of every accuracy advantage.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
            </a:r>
          </a:p>
          <a:p xmlns:a="http://schemas.openxmlformats.org/drawingml/2006/main">
            <a:r>
              <a:t>After the original PDF, the first goal was to test what the parent-block structure actually protects. Using frozen inputs for F2, NH3, and Li2, the mechanism study completed 129 configurations, including 21 structural controls.</a:t>
            </a:r>
          </a:p>
          <a:p xmlns:a="http://schemas.openxmlformats.org/drawingml/2006/main">
            <a:r>
              <a:t/>
            </a:r>
          </a:p>
          <a:p xmlns:a="http://schemas.openxmlformats.org/drawingml/2006/main">
            <a:r>
              <a:t>Shuffling Pauli terms inside each block left the result unchanged, consistent with their commutation. Shuffling whole blocks preserved electron number and spin projection, but changed the error. Interleaving descendants from different blocks improved F2 while making NH3 and Li2 worse.</a:t>
            </a:r>
          </a:p>
          <a:p xmlns:a="http://schemas.openxmlformats.org/drawingml/2006/main">
            <a:r>
              <a:t/>
            </a:r>
          </a:p>
          <a:p xmlns:a="http://schemas.openxmlformats.org/drawingml/2006/main">
            <a:r>
              <a:t>These controls show why symmetry alone cannot select the most accurate sequence. They separate the benefit of keeping a block intact from the benefit of a particular block order. This is the first part of the uncommitted mechanism work, with frozen inputs and numerical checks saved alongside the results.</a:t>
            </a:r>
          </a:p>
          <a:p xmlns:a="http://schemas.openxmlformats.org/drawingml/2006/main">
            <a:r>
              <a:t/>
            </a:r>
          </a:p>
          <a:p xmlns:a="http://schemas.openxmlformats.org/drawingml/2006/main">
            <a:r>
              <a:t>SOURCE NOTES</a:t>
            </a:r>
          </a:p>
          <a:p xmlns:a="http://schemas.openxmlformats.org/drawingml/2006/main">
            <a:r>
              <a:t/>
            </a:r>
          </a:p>
          <a:p xmlns:a="http://schemas.openxmlformats.org/drawingml/2006/main">
            <a:r>
              <a:t>Source: /Users/albertlee0125/Repos/qhat/codex_mechanism_experiment/PROTOCOL.md and RESULTS_KO.md. The main campaign completed 108 baseline configurations (3 molecules x 3 schedules x 3 times x 4 step counts) and 21 controls. Defect decomposition was performed for 63 configurations. Control anchors are T=1,r=100, with one within-block permutation, five whole-block permutations, and one round-robin interleaving for each molecule.</a:t>
            </a:r>
          </a:p>
          <a:p xmlns:a="http://schemas.openxmlformats.org/drawingml/2006/main">
            <a:r>
              <a:t>Within-block shuffle is invariant because descendants commute. Whole-block order preserves Nalpha/Nbeta, but inter-block product-formula error changes. The five fixed whole-block permutations all increased error in the initial three molecules. In the separate new-molecule panel, 13 of 40 whole-block random controls instead improved on the fermionic baseline, reinforcing the absence of universal optimality.</a:t>
            </a:r>
          </a:p>
          <a:p xmlns:a="http://schemas.openxmlformats.org/drawingml/2006/main">
            <a:r>
              <a:t>Round-robin E ratios relative to Fermionic signed: F2 .333, NH3 6.634, Li2 12.431. Interleaving does not isolate one commutator and may break the block-level symmetry protection.</a:t>
            </a:r>
          </a:p>
          <a:p xmlns:a="http://schemas.openxmlformats.org/drawingml/2006/main">
            <a:r>
              <a:t>Uncommitted work before presentation creation: codex_mechanism_experiment has273 files, codex_external_validation has919, total1192. Most are frozen inputs, per-configuration JSON data, traces and repeat/source snapshots, not1192 independent experiments. Current L-sweep HEAD is7cd519d, a prior reproducibility commit. The follow-up preserves historical data. Six historical metric discrepancies in the prior reproducibility summary remain unresolved; these follow-ups use explicitly frozen current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
            </a:r>
          </a:p>
          <a:p xmlns:a="http://schemas.openxmlformats.org/drawingml/2006/main">
            <a:r>
              <a:t>The next goal was to explain the puzzling F2 result. The plot shows the error of JW signed ordering divided by the fermionic error. At short time, the ratio is above one, so fermionic ordering wins. At time one, it is about 0.41, so JW signed wins.</a:t>
            </a:r>
          </a:p>
          <a:p xmlns:a="http://schemas.openxmlformats.org/drawingml/2006/main">
            <a:r>
              <a:t/>
            </a:r>
          </a:p>
          <a:p xmlns:a="http://schemas.openxmlformats.org/drawingml/2006/main">
            <a:r>
              <a:t>I separated the final infidelity into local error power and an accumulation factor. At time one, JW signed has roughly seventeen times more local power, but only about 2.4 percent of the fermionic accumulation factor. Its total error is therefore smaller. Both orderings still have accumulation factors above one, so this is weaker constructive accumulation.</a:t>
            </a:r>
          </a:p>
          <a:p xmlns:a="http://schemas.openxmlformats.org/drawingml/2006/main">
            <a:r>
              <a:t/>
            </a:r>
          </a:p>
          <a:p xmlns:a="http://schemas.openxmlformats.org/drawingml/2006/main">
            <a:r>
              <a:t>Propagating the leading BCH error, without fitting to the measured errors, reproduced the F2 infidelities within 0.06 percent at one hundred steps. The extra time point was exploratory. This connects the local BCH picture to finite-time accuracy.</a:t>
            </a:r>
          </a:p>
          <a:p xmlns:a="http://schemas.openxmlformats.org/drawingml/2006/main">
            <a:r>
              <a:t/>
            </a:r>
          </a:p>
          <a:p xmlns:a="http://schemas.openxmlformats.org/drawingml/2006/main">
            <a:r>
              <a:t>SOURCE NOTES</a:t>
            </a:r>
          </a:p>
          <a:p xmlns:a="http://schemas.openxmlformats.org/drawingml/2006/main">
            <a:r>
              <a:t/>
            </a:r>
          </a:p>
          <a:p xmlns:a="http://schemas.openxmlformats.org/drawingml/2006/main">
            <a:r>
              <a:t>Source: /Users/albertlee0125/Repos/qhat/codex_mechanism_experiment/RESULTS_KO.md, sections1-3. Chart E ratios at r100: T.25=12.553, .5=4.671, .75~=0.774,1=.411. Line segments join observed points and do not estimate the exact crossing time. The .75 point was an exploratory follow-up, with predictions saved before its three Trotter calculations.</a:t>
            </a:r>
          </a:p>
          <a:p xmlns:a="http://schemas.openxmlformats.org/drawingml/2006/main">
            <a:r>
              <a:t>I = D*C where D is the sum of the squared projected, propagated local defects and C=I/D. At T1,r100, JW/Fermionic ratios are D=17.103, C=.02401, I=.4107. The chart uses E; its ratio agrees with the I ratio at displayed precision for these small errors. C values themselves are~84.89 for Fermionic and~2.038 forJW, both above1. Therefore this anchor exhibits reduced constructive accumulation, not net destructive cancellation.</a:t>
            </a:r>
          </a:p>
          <a:p xmlns:a="http://schemas.openxmlformats.org/drawingml/2006/main">
            <a:r>
              <a:t>The unfitted leading-error model solves eta'=-iH eta+B_pi psi_exact with zero initial eta, then predicts I=(T/r)^2||Q_T eta(T)||². Maximum relative difference over39 F2 comparisons is .954%, at r100 .0598%, and at r200 .0150%. This is an application of leading-error propagation, not a new general theorem. It uses exact evolution, so no scalable low-cost selector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
            </a:r>
          </a:p>
          <a:p xmlns:a="http://schemas.openxmlformats.org/drawingml/2006/main">
            <a:r>
              <a:t>Finally, I wanted to test whether the prediction transferred to new molecules. The validation used HCN, formaldehyde, hydrogen sulfide, and silane, with two geometries each. Predictions were saved before the target calculations. All 272 configurations were then repeated in a separate process.</a:t>
            </a:r>
          </a:p>
          <a:p xmlns:a="http://schemas.openxmlformats.org/drawingml/2006/main">
            <a:r>
              <a:t/>
            </a:r>
          </a:p>
          <a:p xmlns:a="http://schemas.openxmlformats.org/drawingml/2006/main">
            <a:r>
              <a:t>Every eligible prediction at one hundred or two hundred steps passed the preset five-percent criterion. The largest relative difference at one hundred steps was about 0.10 percent.</a:t>
            </a:r>
          </a:p>
          <a:p xmlns:a="http://schemas.openxmlformats.org/drawingml/2006/main">
            <a:r>
              <a:t/>
            </a:r>
          </a:p>
          <a:p xmlns:a="http://schemas.openxmlformats.org/drawingml/2006/main">
            <a:r>
              <a:t>However, fermionic ordering won only two of the eight anchor comparisons. Also, both the dynamic predictor and the simple static BCH proxy ranked all 72 eligible pairs correctly. So the new model improves error-value prediction, but this panel does not establish better ordering selection.</a:t>
            </a:r>
          </a:p>
          <a:p xmlns:a="http://schemas.openxmlformats.org/drawingml/2006/main">
            <a:r>
              <a:t/>
            </a:r>
          </a:p>
          <a:p xmlns:a="http://schemas.openxmlformats.org/drawingml/2006/main">
            <a:r>
              <a:t>The contribution is a tested explanation of symmetry protection and error accumulation, supported by a small new-molecule validation. Broader accuracy and practical cost advantages still need testing.</a:t>
            </a:r>
          </a:p>
          <a:p xmlns:a="http://schemas.openxmlformats.org/drawingml/2006/main">
            <a:r>
              <a:t/>
            </a:r>
          </a:p>
          <a:p xmlns:a="http://schemas.openxmlformats.org/drawingml/2006/main">
            <a:r>
              <a:t>SOURCE NOTES</a:t>
            </a:r>
          </a:p>
          <a:p xmlns:a="http://schemas.openxmlformats.org/drawingml/2006/main">
            <a:r>
              <a:t/>
            </a:r>
          </a:p>
          <a:p xmlns:a="http://schemas.openxmlformats.org/drawingml/2006/main">
            <a:r>
              <a:t>Source: /Users/albertlee0125/Repos/qhat/codex_external_validation/PROTOCOL.md and RESULTS_KO.md. Main and independent-process frozen-input repeat: runs/transfer-vtrgy3ds and transfer-hux1k985. Each completed216 baseline +56 control configurations=272. Repeated configurations are not independent physical samples; four molecular families and eight Hamiltonians were used. Idealized unoptimized geometries, one basis and one active-space size limit scope.</a:t>
            </a:r>
          </a:p>
          <a:p xmlns:a="http://schemas.openxmlformats.org/drawingml/2006/main">
            <a:r>
              <a:t>216 baseline predictions were frozen before target evolution. All143 eligible r100/r200 predictions satisfied the predeclared&lt;=5% relative I difference. One baseline with E&lt;=1e-12 was excluded (SiH4 s1,JW signed,T.25,r200,E=3.9124e-13), but retained in raw data. Max differences:r100 .10150%,r200 .05057%.</a:t>
            </a:r>
          </a:p>
          <a:p xmlns:a="http://schemas.openxmlformats.org/drawingml/2006/main">
            <a:r>
              <a:t>At T1,r100 JW signed wins6/8 anchors, Fermionic signed2/8, JW magnitude0/8. This is a descriptive count from four families, not a population win-rate estimate. The72 pairwise rank tests are at r100 with actual separation&gt;1% and both outcomes above the floor. Both dynamic and static HF-BCH proxies match72/72. Median relative I difference at r100/r200: dynamic .002302%, static4.33748%. Thus better error-value prediction is supported, better ordering selection is not. No time-dependent best-order reversal occurred in this panel.</a:t>
            </a:r>
          </a:p>
          <a:p xmlns:a="http://schemas.openxmlformats.org/drawingml/2006/main">
            <a:r>
              <a:t>Uncommitted transfer output: /Users/albertlee0125/Repos/qhat/codex_external_validation. This follow-up tests predictive transfer; it does not prove chemical universality, new error-interference theory, hardware gains or better compiled circuit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64787952be42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5d001dbf8c4acd" /><Relationship Type="http://schemas.openxmlformats.org/officeDocument/2006/relationships/slideLayout" Target="/ppt/slideLayouts/slideLayout1.xml" Id="R609c58a7fe0c45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9c58a7fe0c45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e316bc6ea841bc" /><Relationship Type="http://schemas.openxmlformats.org/officeDocument/2006/relationships/notesSlide" Target="/ppt/notesSlides/notesSlide1.xml" Id="R0ca5c871b52d4e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e0f9eb48cad4efa" /><Relationship Type="http://schemas.openxmlformats.org/officeDocument/2006/relationships/notesSlide" Target="/ppt/notesSlides/notesSlide2.xml" Id="R668217e27c2d4f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19707ee5c94a16" /><Relationship Type="http://schemas.openxmlformats.org/officeDocument/2006/relationships/chart" Target="/ppt/slides/charts/chart1.xml" Id="R99549ae7eeaa450b" /><Relationship Type="http://schemas.openxmlformats.org/officeDocument/2006/relationships/notesSlide" Target="/ppt/notesSlides/notesSlide3.xml" Id="R7b126fc1c9be4f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eb1f0e87eb4ed5" /><Relationship Type="http://schemas.openxmlformats.org/officeDocument/2006/relationships/notesSlide" Target="/ppt/notesSlides/notesSlide4.xml" Id="Rf84f2198b7d34025" /></Relationships>
</file>

<file path=ppt/slides/charts/chart1.xml><?xml version="1.0" encoding="utf-8"?>
<c:chartSpace xmlns:c="http://schemas.openxmlformats.org/drawingml/2006/chart">
  <c:lang val="en-US"/>
  <c:chart>
    <c:plotArea>
      <c:lineChart>
        <c:grouping val="standard"/>
        <c:varyColors val="0"/>
        <c:ser>
          <c:idx val="0"/>
          <c:order val="0"/>
          <c:tx>
            <c:v>JW signed / Fermionic signed</c:v>
          </c:tx>
          <c:spPr>
            <a:ln xmlns:a="http://schemas.openxmlformats.org/drawingml/2006/main" w="36195">
              <a:solidFill>
                <a:srgbClr val="008F83"/>
              </a:solidFill>
            </a:ln>
          </c:spPr>
          <c:marker>
            <c:symbol val="circle"/>
            <c:size val="10"/>
            <c:spPr>
              <a:solidFill xmlns:a="http://schemas.openxmlformats.org/drawingml/2006/main">
                <a:srgbClr val="008F83"/>
              </a:solidFill>
            </c:spPr>
          </c:marker>
          <c:cat>
            <c:strLit>
              <c:ptCount val="4"/>
              <c:pt idx="0">
                <c:v>0.25</c:v>
              </c:pt>
              <c:pt idx="1">
                <c:v>0.50</c:v>
              </c:pt>
              <c:pt idx="2">
                <c:v>0.75*</c:v>
              </c:pt>
              <c:pt idx="3">
                <c:v>1.00</c:v>
              </c:pt>
            </c:strLit>
          </c:cat>
          <c:val>
            <c:numLit>
              <c:formatCode>0.000</c:formatCode>
              <c:ptCount val="4"/>
              <c:pt idx="0">
                <c:v>12.553</c:v>
              </c:pt>
              <c:pt idx="1">
                <c:v>4.671</c:v>
              </c:pt>
              <c:pt idx="2">
                <c:v>0.774</c:v>
              </c:pt>
              <c:pt idx="3">
                <c:v>0.411</c:v>
              </c:pt>
            </c:numLit>
          </c:val>
          <c:smooth val="0"/>
        </c:ser>
        <c:ser>
          <c:idx val="1"/>
          <c:order val="1"/>
          <c:tx>
            <c:v>Equal error</c:v>
          </c:tx>
          <c:spPr>
            <a:ln xmlns:a="http://schemas.openxmlformats.org/drawingml/2006/main" w="14288">
              <a:solidFill>
                <a:srgbClr val="909BA9"/>
              </a:solidFill>
              <a:prstDash val="dash"/>
            </a:ln>
          </c:spPr>
          <c:marker>
            <c:symbol val="none"/>
          </c:marker>
          <c:dLbls>
            <c:dLbl>
              <c:idx val="0"/>
              <c:showLegendKey val="0"/>
              <c:showVal val="0"/>
              <c:showCatName val="0"/>
              <c:showSerName val="0"/>
              <c:showPercent val="0"/>
              <c:showBubbleSize val="0"/>
            </c:dLbl>
            <c:dLbl>
              <c:idx val="1"/>
              <c:showLegendKey val="0"/>
              <c:showVal val="0"/>
              <c:showCatName val="0"/>
              <c:showSerName val="0"/>
              <c:showPercent val="0"/>
              <c:showBubbleSize val="0"/>
            </c:dLbl>
            <c:dLbl>
              <c:idx val="2"/>
              <c:showLegendKey val="0"/>
              <c:showVal val="0"/>
              <c:showCatName val="0"/>
              <c:showSerName val="0"/>
              <c:showPercent val="0"/>
              <c:showBubbleSize val="0"/>
            </c:dLbl>
            <c:dLbl>
              <c:idx val="3"/>
              <c:showLegendKey val="0"/>
              <c:showVal val="0"/>
              <c:showCatName val="0"/>
              <c:showSerName val="0"/>
              <c:showPercent val="0"/>
              <c:showBubbleSize val="0"/>
            </c:dLbl>
            <c:txPr>
              <a:bodyPr xmlns:a="http://schemas.openxmlformats.org/drawingml/2006/main" anchorCtr="1"/>
              <a:lstStyle xmlns:a="http://schemas.openxmlformats.org/drawingml/2006/main"/>
              <a:p xmlns:a="http://schemas.openxmlformats.org/drawingml/2006/main">
                <a:pPr>
                  <a:defRPr sz="1725" b="1">
                    <a:solidFill>
                      <a:srgbClr val="202B38"/>
                    </a:solidFill>
                    <a:latin typeface="Helvetica Neue"/>
                    <a:ea typeface="Helvetica Neue"/>
                    <a:cs typeface="Helvetica Neue"/>
                  </a:defRPr>
                </a:pPr>
              </a:p>
            </c:txPr>
            <c:showLegendKey val="0"/>
            <c:showVal val="1"/>
            <c:showCatName val="0"/>
            <c:showSerName val="0"/>
            <c:showPercent val="0"/>
            <c:showBubbleSize val="0"/>
            <c:showLeaderLines val="0"/>
          </c:dLbls>
          <c:cat>
            <c:strLit>
              <c:ptCount val="4"/>
              <c:pt idx="0">
                <c:v>0.25</c:v>
              </c:pt>
              <c:pt idx="1">
                <c:v>0.50</c:v>
              </c:pt>
              <c:pt idx="2">
                <c:v>0.75*</c:v>
              </c:pt>
              <c:pt idx="3">
                <c:v>1.00</c:v>
              </c:pt>
            </c:strLit>
          </c:cat>
          <c:val>
            <c:numLit>
              <c:formatCode>0</c:formatCode>
              <c:ptCount val="4"/>
              <c:pt idx="0">
                <c:v>1</c:v>
              </c:pt>
              <c:pt idx="1">
                <c:v>1</c:v>
              </c:pt>
              <c:pt idx="2">
                <c:v>1</c:v>
              </c:pt>
              <c:pt idx="3">
                <c:v>1</c:v>
              </c:pt>
            </c:numLit>
          </c:val>
          <c:smooth val="0"/>
        </c:ser>
        <c:dLbls>
          <c:txPr>
            <a:bodyPr xmlns:a="http://schemas.openxmlformats.org/drawingml/2006/main" anchorCtr="1"/>
            <a:lstStyle xmlns:a="http://schemas.openxmlformats.org/drawingml/2006/main"/>
            <a:p xmlns:a="http://schemas.openxmlformats.org/drawingml/2006/main">
              <a:pPr>
                <a:defRPr sz="1725" b="1">
                  <a:solidFill>
                    <a:srgbClr val="202B38"/>
                  </a:solidFill>
                  <a:latin typeface="Helvetica Neue"/>
                  <a:ea typeface="Helvetica Neue"/>
                  <a:cs typeface="Helvetica Neue"/>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Evolution time T (Hartree⁻¹)</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AE1E9"/>
            </a:solidFill>
          </a:ln>
        </c:spPr>
        <c:txPr>
          <a:bodyPr xmlns:a="http://schemas.openxmlformats.org/drawingml/2006/main" anchorCtr="1"/>
          <a:lstStyle xmlns:a="http://schemas.openxmlformats.org/drawingml/2006/main"/>
          <a:p xmlns:a="http://schemas.openxmlformats.org/drawingml/2006/main">
            <a:pPr>
              <a:defRPr sz="1725">
                <a:solidFill>
                  <a:srgbClr val="596579"/>
                </a:solidFill>
                <a:latin typeface="Helvetica Neue"/>
                <a:ea typeface="Helvetica Neue"/>
                <a:cs typeface="Helvetica Neue"/>
              </a:defRPr>
            </a:pPr>
          </a:p>
        </c:txPr>
        <c:crossAx val="48672768"/>
      </c:catAx>
      <c:valAx>
        <c:axId val="48672768"/>
        <c:scaling>
          <c:orientation val="minMax"/>
          <c:max val="14"/>
          <c:min val="0"/>
        </c:scaling>
        <c:delete val="0"/>
        <c:axPos val="l"/>
        <c:majorGridlines>
          <c:spPr>
            <a:ln xmlns:a="http://schemas.openxmlformats.org/drawingml/2006/main" w="9525">
              <a:solidFill>
                <a:srgbClr val="E4E9E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96579"/>
                </a:solidFill>
                <a:latin typeface="Helvetica Neue"/>
                <a:ea typeface="Helvetica Neue"/>
                <a:cs typeface="Helvetica Neue"/>
              </a:defRPr>
            </a:pPr>
          </a:p>
        </c:txPr>
        <c:crossAx val="48650112"/>
        <c:crossBetween val="between"/>
        <c:majorUnit val="2"/>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6B0F12E-F7E7-4A75-9ABF-0DBABE6CBDF6}"/>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200" b="1">
                <a:solidFill>
                  <a:srgbClr val="09295C"/>
                </a:solidFill>
                <a:latin typeface="Helvetica Neue"/>
                <a:ea typeface="Helvetica Neue"/>
                <a:cs typeface="Helvetica Neue"/>
              </a:defRPr>
            </a:pPr>
            <a:r>
              <a:rPr sz="4200" b="1">
                <a:solidFill>
                  <a:srgbClr val="09295C"/>
                </a:solidFill>
                <a:latin typeface="Helvetica Neue"/>
                <a:ea typeface="Helvetica Neue"/>
                <a:cs typeface="Helvetica Neue"/>
              </a:rPr>
              <a:t>Fermionic ordering and symmetry</a:t>
            </a:r>
          </a:p>
        </p:txBody>
      </p:sp>
      <p:sp>
        <p:nvSpPr>
          <p:cNvPr id="2" name="">
            <a:extLst xmlns:a="http://schemas.openxmlformats.org/drawingml/2006/main">
              <a:ext uri="{FF2B5EF4-FFF2-40B4-BE49-F238E27FC236}">
                <a16:creationId xmlns:a16="http://schemas.microsoft.com/office/drawing/2014/main" id="{931C37DC-20B0-4DFA-8BDF-F98929594AD3}"/>
              </a:ext>
            </a:extLst>
          </p:cNvPr>
          <p:cNvSpPr>
            <a:spLocks xmlns:a="http://schemas.openxmlformats.org/drawingml/2006/main" noGrp="1"/>
          </p:cNvSpPr>
          <p:nvPr/>
        </p:nvSpPr>
        <p:spPr>
          <a:xfrm xmlns:a="http://schemas.openxmlformats.org/drawingml/2006/main">
            <a:off x="647700" y="124777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596579"/>
                </a:solidFill>
                <a:latin typeface="Helvetica Neue"/>
                <a:ea typeface="Helvetica Neue"/>
                <a:cs typeface="Helvetica Neue"/>
              </a:defRPr>
            </a:pPr>
            <a:r>
              <a:rPr sz="2025" b="0">
                <a:solidFill>
                  <a:srgbClr val="596579"/>
                </a:solidFill>
                <a:latin typeface="Helvetica Neue"/>
                <a:ea typeface="Helvetica Neue"/>
                <a:cs typeface="Helvetica Neue"/>
              </a:rPr>
              <a:t>Same merged Pauli terms and coefficients. A different execution order.</a:t>
            </a:r>
          </a:p>
        </p:txBody>
      </p:sp>
      <p:sp>
        <p:nvSpPr>
          <p:cNvPr id="3" name="">
            <a:extLst xmlns:a="http://schemas.openxmlformats.org/drawingml/2006/main">
              <a:ext uri="{FF2B5EF4-FFF2-40B4-BE49-F238E27FC236}">
                <a16:creationId xmlns:a16="http://schemas.microsoft.com/office/drawing/2014/main" id="{4E9F1126-48D2-4A21-A1A1-54664FFDDBE3}"/>
              </a:ext>
            </a:extLst>
          </p:cNvPr>
          <p:cNvSpPr>
            <a:spLocks xmlns:a="http://schemas.openxmlformats.org/drawingml/2006/main" noGrp="1"/>
          </p:cNvSpPr>
          <p:nvPr/>
        </p:nvSpPr>
        <p:spPr>
          <a:xfrm xmlns:a="http://schemas.openxmlformats.org/drawingml/2006/main">
            <a:off x="10896600" y="63722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579"/>
                </a:solidFill>
                <a:latin typeface="Helvetica Neue"/>
                <a:ea typeface="Helvetica Neue"/>
                <a:cs typeface="Helvetica Neue"/>
              </a:defRPr>
            </a:pPr>
            <a:r>
              <a:rPr sz="1350" b="0">
                <a:solidFill>
                  <a:srgbClr val="596579"/>
                </a:solidFill>
                <a:latin typeface="Helvetica Neue"/>
                <a:ea typeface="Helvetica Neue"/>
                <a:cs typeface="Helvetica Neue"/>
              </a:rPr>
              <a:t>1 / 4</a:t>
            </a:r>
          </a:p>
        </p:txBody>
      </p:sp>
      <p:sp>
        <p:nvSpPr>
          <p:cNvPr id="4" name="">
            <a:extLst xmlns:a="http://schemas.openxmlformats.org/drawingml/2006/main">
              <a:ext uri="{FF2B5EF4-FFF2-40B4-BE49-F238E27FC236}">
                <a16:creationId xmlns:a16="http://schemas.microsoft.com/office/drawing/2014/main" id="{99B5B757-84CC-4119-A844-C83E51DBFFAC}"/>
              </a:ext>
            </a:extLst>
          </p:cNvPr>
          <p:cNvSpPr>
            <a:spLocks xmlns:a="http://schemas.openxmlformats.org/drawingml/2006/main" noGrp="1"/>
          </p:cNvSpPr>
          <p:nvPr/>
        </p:nvSpPr>
        <p:spPr>
          <a:xfrm xmlns:a="http://schemas.openxmlformats.org/drawingml/2006/main">
            <a:off x="647700" y="2152650"/>
            <a:ext cx="5086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9295C"/>
                </a:solidFill>
                <a:latin typeface="Helvetica Neue"/>
                <a:ea typeface="Helvetica Neue"/>
                <a:cs typeface="Helvetica Neue"/>
              </a:defRPr>
            </a:pPr>
            <a:r>
              <a:rPr sz="2550" b="1">
                <a:solidFill>
                  <a:srgbClr val="09295C"/>
                </a:solidFill>
                <a:latin typeface="Helvetica Neue"/>
                <a:ea typeface="Helvetica Neue"/>
                <a:cs typeface="Helvetica Neue"/>
              </a:rPr>
              <a:t>Ordering rule used here</a:t>
            </a:r>
          </a:p>
        </p:txBody>
      </p:sp>
      <p:sp>
        <p:nvSpPr>
          <p:cNvPr id="5" name="">
            <a:extLst xmlns:a="http://schemas.openxmlformats.org/drawingml/2006/main">
              <a:ext uri="{FF2B5EF4-FFF2-40B4-BE49-F238E27FC236}">
                <a16:creationId xmlns:a16="http://schemas.microsoft.com/office/drawing/2014/main" id="{20657C86-9084-420C-A5A0-429E707A616E}"/>
              </a:ext>
            </a:extLst>
          </p:cNvPr>
          <p:cNvSpPr>
            <a:spLocks xmlns:a="http://schemas.openxmlformats.org/drawingml/2006/main" noGrp="1"/>
          </p:cNvSpPr>
          <p:nvPr/>
        </p:nvSpPr>
        <p:spPr>
          <a:xfrm xmlns:a="http://schemas.openxmlformats.org/drawingml/2006/main">
            <a:off x="647700" y="2828925"/>
            <a:ext cx="5086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202B38"/>
                </a:solidFill>
                <a:latin typeface="Helvetica Neue"/>
                <a:ea typeface="Helvetica Neue"/>
                <a:cs typeface="Helvetica Neue"/>
              </a:defRPr>
            </a:pPr>
            <a:r>
              <a:rPr sz="2175" b="0">
                <a:solidFill>
                  <a:srgbClr val="202B38"/>
                </a:solidFill>
                <a:latin typeface="Helvetica Neue"/>
                <a:ea typeface="Helvetica Neue"/>
                <a:cs typeface="Helvetica Neue"/>
              </a:rPr>
              <a:t>Sort Hermitian fermionic parents</a:t>
            </a:r>
          </a:p>
          <a:p xmlns:a="http://schemas.openxmlformats.org/drawingml/2006/main">
            <a:pPr>
              <a:defRPr sz="2175" b="0">
                <a:solidFill>
                  <a:srgbClr val="202B38"/>
                </a:solidFill>
                <a:latin typeface="Helvetica Neue"/>
                <a:ea typeface="Helvetica Neue"/>
                <a:cs typeface="Helvetica Neue"/>
              </a:defRPr>
            </a:pPr>
            <a:r>
              <a:rPr sz="2175" b="0">
                <a:solidFill>
                  <a:srgbClr val="202B38"/>
                </a:solidFill>
                <a:latin typeface="Helvetica Neue"/>
                <a:ea typeface="Helvetica Neue"/>
                <a:cs typeface="Helvetica Neue"/>
              </a:rPr>
              <a:t>by increasing signed coefficient.</a:t>
            </a:r>
          </a:p>
        </p:txBody>
      </p:sp>
      <p:sp>
        <p:nvSpPr>
          <p:cNvPr id="6" name="">
            <a:extLst xmlns:a="http://schemas.openxmlformats.org/drawingml/2006/main">
              <a:ext uri="{FF2B5EF4-FFF2-40B4-BE49-F238E27FC236}">
                <a16:creationId xmlns:a16="http://schemas.microsoft.com/office/drawing/2014/main" id="{956FE0B6-8506-43CE-B847-4F0200C8D9A8}"/>
              </a:ext>
            </a:extLst>
          </p:cNvPr>
          <p:cNvSpPr>
            <a:spLocks xmlns:a="http://schemas.openxmlformats.org/drawingml/2006/main" noGrp="1"/>
          </p:cNvSpPr>
          <p:nvPr/>
        </p:nvSpPr>
        <p:spPr>
          <a:xfrm xmlns:a="http://schemas.openxmlformats.org/drawingml/2006/main">
            <a:off x="647700" y="3876675"/>
            <a:ext cx="5086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202B38"/>
                </a:solidFill>
                <a:latin typeface="Helvetica Neue"/>
                <a:ea typeface="Helvetica Neue"/>
                <a:cs typeface="Helvetica Neue"/>
              </a:defRPr>
            </a:pPr>
            <a:r>
              <a:rPr sz="2175" b="0">
                <a:solidFill>
                  <a:srgbClr val="202B38"/>
                </a:solidFill>
                <a:latin typeface="Helvetica Neue"/>
                <a:ea typeface="Helvetica Neue"/>
                <a:cs typeface="Helvetica Neue"/>
              </a:rPr>
              <a:t>Assign each merged Pauli term to</a:t>
            </a:r>
          </a:p>
          <a:p xmlns:a="http://schemas.openxmlformats.org/drawingml/2006/main">
            <a:pPr>
              <a:defRPr sz="2175" b="0">
                <a:solidFill>
                  <a:srgbClr val="202B38"/>
                </a:solidFill>
                <a:latin typeface="Helvetica Neue"/>
                <a:ea typeface="Helvetica Neue"/>
                <a:cs typeface="Helvetica Neue"/>
              </a:defRPr>
            </a:pPr>
            <a:r>
              <a:rPr sz="2175" b="0">
                <a:solidFill>
                  <a:srgbClr val="202B38"/>
                </a:solidFill>
                <a:latin typeface="Helvetica Neue"/>
                <a:ea typeface="Helvetica Neue"/>
                <a:cs typeface="Helvetica Neue"/>
              </a:rPr>
              <a:t>its first parent. Keep each parent's</a:t>
            </a:r>
          </a:p>
          <a:p xmlns:a="http://schemas.openxmlformats.org/drawingml/2006/main">
            <a:pPr>
              <a:defRPr sz="2175" b="0">
                <a:solidFill>
                  <a:srgbClr val="202B38"/>
                </a:solidFill>
                <a:latin typeface="Helvetica Neue"/>
                <a:ea typeface="Helvetica Neue"/>
                <a:cs typeface="Helvetica Neue"/>
              </a:defRPr>
            </a:pPr>
            <a:r>
              <a:rPr sz="2175" b="0">
                <a:solidFill>
                  <a:srgbClr val="202B38"/>
                </a:solidFill>
                <a:latin typeface="Helvetica Neue"/>
                <a:ea typeface="Helvetica Neue"/>
                <a:cs typeface="Helvetica Neue"/>
              </a:rPr>
              <a:t>assigned terms in one block.</a:t>
            </a:r>
          </a:p>
        </p:txBody>
      </p:sp>
      <p:sp>
        <p:nvSpPr>
          <p:cNvPr id="7" name="">
            <a:extLst xmlns:a="http://schemas.openxmlformats.org/drawingml/2006/main">
              <a:ext uri="{FF2B5EF4-FFF2-40B4-BE49-F238E27FC236}">
                <a16:creationId xmlns:a16="http://schemas.microsoft.com/office/drawing/2014/main" id="{46222ADB-3F03-4E30-8544-AD69920F8349}"/>
              </a:ext>
            </a:extLst>
          </p:cNvPr>
          <p:cNvSpPr>
            <a:spLocks xmlns:a="http://schemas.openxmlformats.org/drawingml/2006/main" noGrp="1"/>
          </p:cNvSpPr>
          <p:nvPr/>
        </p:nvSpPr>
        <p:spPr>
          <a:xfrm xmlns:a="http://schemas.openxmlformats.org/drawingml/2006/main">
            <a:off x="6419850" y="2152650"/>
            <a:ext cx="5105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8F83"/>
                </a:solidFill>
                <a:latin typeface="Helvetica Neue"/>
                <a:ea typeface="Helvetica Neue"/>
                <a:cs typeface="Helvetica Neue"/>
              </a:defRPr>
            </a:pPr>
            <a:r>
              <a:rPr sz="2550" b="1">
                <a:solidFill>
                  <a:srgbClr val="008F83"/>
                </a:solidFill>
                <a:latin typeface="Helvetica Neue"/>
                <a:ea typeface="Helvetica Neue"/>
                <a:cs typeface="Helvetica Neue"/>
              </a:rPr>
              <a:t>Why the structure can help</a:t>
            </a:r>
          </a:p>
        </p:txBody>
      </p:sp>
      <p:sp>
        <p:nvSpPr>
          <p:cNvPr id="8" name="">
            <a:extLst xmlns:a="http://schemas.openxmlformats.org/drawingml/2006/main">
              <a:ext uri="{FF2B5EF4-FFF2-40B4-BE49-F238E27FC236}">
                <a16:creationId xmlns:a16="http://schemas.microsoft.com/office/drawing/2014/main" id="{6A61273E-8B1D-4046-BAAD-0077937EE13D}"/>
              </a:ext>
            </a:extLst>
          </p:cNvPr>
          <p:cNvSpPr>
            <a:spLocks xmlns:a="http://schemas.openxmlformats.org/drawingml/2006/main" noGrp="1"/>
          </p:cNvSpPr>
          <p:nvPr/>
        </p:nvSpPr>
        <p:spPr>
          <a:xfrm xmlns:a="http://schemas.openxmlformats.org/drawingml/2006/main">
            <a:off x="6419850" y="2828925"/>
            <a:ext cx="5105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202B38"/>
                </a:solidFill>
                <a:latin typeface="Helvetica Neue"/>
                <a:ea typeface="Helvetica Neue"/>
                <a:cs typeface="Helvetica Neue"/>
              </a:defRPr>
            </a:pPr>
            <a:r>
              <a:rPr sz="2175" b="0">
                <a:solidFill>
                  <a:srgbClr val="202B38"/>
                </a:solidFill>
                <a:latin typeface="Helvetica Neue"/>
                <a:ea typeface="Helvetica Neue"/>
                <a:cs typeface="Helvetica Neue"/>
              </a:rPr>
              <a:t>Pauli terms commute within</a:t>
            </a:r>
          </a:p>
          <a:p xmlns:a="http://schemas.openxmlformats.org/drawingml/2006/main">
            <a:pPr>
              <a:defRPr sz="2175" b="0">
                <a:solidFill>
                  <a:srgbClr val="202B38"/>
                </a:solidFill>
                <a:latin typeface="Helvetica Neue"/>
                <a:ea typeface="Helvetica Neue"/>
                <a:cs typeface="Helvetica Neue"/>
              </a:defRPr>
            </a:pPr>
            <a:r>
              <a:rPr sz="2175" b="0">
                <a:solidFill>
                  <a:srgbClr val="202B38"/>
                </a:solidFill>
                <a:latin typeface="Helvetica Neue"/>
                <a:ea typeface="Helvetica Neue"/>
                <a:cs typeface="Helvetica Neue"/>
              </a:rPr>
              <a:t>each checked block.</a:t>
            </a:r>
          </a:p>
        </p:txBody>
      </p:sp>
      <p:sp>
        <p:nvSpPr>
          <p:cNvPr id="9" name="">
            <a:extLst xmlns:a="http://schemas.openxmlformats.org/drawingml/2006/main">
              <a:ext uri="{FF2B5EF4-FFF2-40B4-BE49-F238E27FC236}">
                <a16:creationId xmlns:a16="http://schemas.microsoft.com/office/drawing/2014/main" id="{75FAE409-63C6-4807-A701-FC8A15F38D78}"/>
              </a:ext>
            </a:extLst>
          </p:cNvPr>
          <p:cNvSpPr>
            <a:spLocks xmlns:a="http://schemas.openxmlformats.org/drawingml/2006/main" noGrp="1"/>
          </p:cNvSpPr>
          <p:nvPr/>
        </p:nvSpPr>
        <p:spPr>
          <a:xfrm xmlns:a="http://schemas.openxmlformats.org/drawingml/2006/main">
            <a:off x="6419850" y="378142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008F83"/>
                </a:solidFill>
                <a:latin typeface="Helvetica Neue"/>
                <a:ea typeface="Helvetica Neue"/>
                <a:cs typeface="Helvetica Neue"/>
              </a:defRPr>
            </a:pPr>
            <a:r>
              <a:rPr sz="2250" b="1">
                <a:solidFill>
                  <a:srgbClr val="008F83"/>
                </a:solidFill>
                <a:latin typeface="Helvetica Neue"/>
                <a:ea typeface="Helvetica Neue"/>
                <a:cs typeface="Helvetica Neue"/>
              </a:rPr>
              <a:t>[Hblock, Nα] = [Hblock, Nβ] = 0</a:t>
            </a:r>
          </a:p>
        </p:txBody>
      </p:sp>
      <p:sp>
        <p:nvSpPr>
          <p:cNvPr id="10" name="">
            <a:extLst xmlns:a="http://schemas.openxmlformats.org/drawingml/2006/main">
              <a:ext uri="{FF2B5EF4-FFF2-40B4-BE49-F238E27FC236}">
                <a16:creationId xmlns:a16="http://schemas.microsoft.com/office/drawing/2014/main" id="{C2586634-2843-450D-BA6B-B622317DD75D}"/>
              </a:ext>
            </a:extLst>
          </p:cNvPr>
          <p:cNvSpPr>
            <a:spLocks xmlns:a="http://schemas.openxmlformats.org/drawingml/2006/main" noGrp="1"/>
          </p:cNvSpPr>
          <p:nvPr/>
        </p:nvSpPr>
        <p:spPr>
          <a:xfrm xmlns:a="http://schemas.openxmlformats.org/drawingml/2006/main">
            <a:off x="6419850" y="4514850"/>
            <a:ext cx="5105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202B38"/>
                </a:solidFill>
                <a:latin typeface="Helvetica Neue"/>
                <a:ea typeface="Helvetica Neue"/>
                <a:cs typeface="Helvetica Neue"/>
              </a:defRPr>
            </a:pPr>
            <a:r>
              <a:rPr sz="2100" b="0">
                <a:solidFill>
                  <a:srgbClr val="202B38"/>
                </a:solidFill>
                <a:latin typeface="Helvetica Neue"/>
                <a:ea typeface="Helvetica Neue"/>
                <a:cs typeface="Helvetica Neue"/>
              </a:rPr>
              <a:t>A complete block preserves electron</a:t>
            </a:r>
          </a:p>
          <a:p xmlns:a="http://schemas.openxmlformats.org/drawingml/2006/main">
            <a:pPr>
              <a:defRPr sz="2100" b="0">
                <a:solidFill>
                  <a:srgbClr val="202B38"/>
                </a:solidFill>
                <a:latin typeface="Helvetica Neue"/>
                <a:ea typeface="Helvetica Neue"/>
                <a:cs typeface="Helvetica Neue"/>
              </a:defRPr>
            </a:pPr>
            <a:r>
              <a:rPr sz="2100" b="0">
                <a:solidFill>
                  <a:srgbClr val="202B38"/>
                </a:solidFill>
                <a:latin typeface="Helvetica Neue"/>
                <a:ea typeface="Helvetica Neue"/>
                <a:cs typeface="Helvetica Neue"/>
              </a:rPr>
              <a:t>number N and spin projection Sz.</a:t>
            </a:r>
          </a:p>
        </p:txBody>
      </p:sp>
      <p:sp>
        <p:nvSpPr>
          <p:cNvPr id="11" name="">
            <a:extLst xmlns:a="http://schemas.openxmlformats.org/drawingml/2006/main">
              <a:ext uri="{FF2B5EF4-FFF2-40B4-BE49-F238E27FC236}">
                <a16:creationId xmlns:a16="http://schemas.microsoft.com/office/drawing/2014/main" id="{3ABA181F-55DF-4CA1-ACB3-193E354B65A1}"/>
              </a:ext>
            </a:extLst>
          </p:cNvPr>
          <p:cNvSpPr>
            <a:spLocks xmlns:a="http://schemas.openxmlformats.org/drawingml/2006/main" noGrp="1"/>
          </p:cNvSpPr>
          <p:nvPr/>
        </p:nvSpPr>
        <p:spPr>
          <a:xfrm xmlns:a="http://schemas.openxmlformats.org/drawingml/2006/main">
            <a:off x="647700" y="57626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09295C"/>
                </a:solidFill>
                <a:latin typeface="Helvetica Neue"/>
                <a:ea typeface="Helvetica Neue"/>
                <a:cs typeface="Helvetica Neue"/>
              </a:defRPr>
            </a:pPr>
            <a:r>
              <a:rPr sz="2400" b="1">
                <a:solidFill>
                  <a:srgbClr val="09295C"/>
                </a:solidFill>
                <a:latin typeface="Helvetica Neue"/>
                <a:ea typeface="Helvetica Neue"/>
                <a:cs typeface="Helvetica Neue"/>
              </a:rPr>
              <a:t>Symmetry removes leakage. Error within the sector still matters.</a:t>
            </a:r>
          </a:p>
        </p:txBody>
      </p:sp>
      <p:sp>
        <p:nvSpPr>
          <p:cNvPr id="12" name="">
            <a:extLst xmlns:a="http://schemas.openxmlformats.org/drawingml/2006/main">
              <a:ext uri="{FF2B5EF4-FFF2-40B4-BE49-F238E27FC236}">
                <a16:creationId xmlns:a16="http://schemas.microsoft.com/office/drawing/2014/main" id="{42B694DF-074A-4053-A063-80105002DEF8}"/>
              </a:ext>
            </a:extLst>
          </p:cNvPr>
          <p:cNvSpPr>
            <a:spLocks xmlns:a="http://schemas.openxmlformats.org/drawingml/2006/main" noGrp="1"/>
          </p:cNvSpPr>
          <p:nvPr/>
        </p:nvSpPr>
        <p:spPr>
          <a:xfrm xmlns:a="http://schemas.openxmlformats.org/drawingml/2006/main">
            <a:off x="647700" y="6362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579"/>
                </a:solidFill>
                <a:latin typeface="Helvetica Neue"/>
                <a:ea typeface="Helvetica Neue"/>
                <a:cs typeface="Helvetica Neue"/>
              </a:defRPr>
            </a:pPr>
            <a:r>
              <a:rPr sz="1350" b="0">
                <a:solidFill>
                  <a:srgbClr val="596579"/>
                </a:solidFill>
                <a:latin typeface="Helvetica Neue"/>
                <a:ea typeface="Helvetica Neue"/>
                <a:cs typeface="Helvetica Neue"/>
              </a:rPr>
              <a:t>Structural conditions were checked on these inputs. They do not follow from the fermionic label alone.</a:t>
            </a:r>
          </a:p>
        </p:txBody>
      </p:sp>
    </p:spTree>
    <p:extLst>
      <p:ext uri="{BB962C8B-B14F-4D97-AF65-F5344CB8AC3E}">
        <p14:creationId xmlns:p14="http://schemas.microsoft.com/office/powerpoint/2010/main" val="16948646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6D868A-A5A3-4AAF-A8B4-B22EBCB7EE13}"/>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09295C"/>
                </a:solidFill>
                <a:latin typeface="Helvetica Neue"/>
                <a:ea typeface="Helvetica Neue"/>
                <a:cs typeface="Helvetica Neue"/>
              </a:defRPr>
            </a:pPr>
            <a:r>
              <a:rPr sz="3450" b="1">
                <a:solidFill>
                  <a:srgbClr val="09295C"/>
                </a:solidFill>
                <a:latin typeface="Helvetica Neue"/>
                <a:ea typeface="Helvetica Neue"/>
                <a:cs typeface="Helvetica Neue"/>
              </a:rPr>
              <a:t>Test 1: parent blocks and symmetry</a:t>
            </a:r>
          </a:p>
        </p:txBody>
      </p:sp>
      <p:sp>
        <p:nvSpPr>
          <p:cNvPr id="2" name="">
            <a:extLst xmlns:a="http://schemas.openxmlformats.org/drawingml/2006/main">
              <a:ext uri="{FF2B5EF4-FFF2-40B4-BE49-F238E27FC236}">
                <a16:creationId xmlns:a16="http://schemas.microsoft.com/office/drawing/2014/main" id="{69F2ECCF-4A54-45C2-B1AF-C26ED53DD8F7}"/>
              </a:ext>
            </a:extLst>
          </p:cNvPr>
          <p:cNvSpPr>
            <a:spLocks xmlns:a="http://schemas.openxmlformats.org/drawingml/2006/main" noGrp="1"/>
          </p:cNvSpPr>
          <p:nvPr/>
        </p:nvSpPr>
        <p:spPr>
          <a:xfrm xmlns:a="http://schemas.openxmlformats.org/drawingml/2006/main">
            <a:off x="647700" y="124777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596579"/>
                </a:solidFill>
                <a:latin typeface="Helvetica Neue"/>
                <a:ea typeface="Helvetica Neue"/>
                <a:cs typeface="Helvetica Neue"/>
              </a:defRPr>
            </a:pPr>
            <a:r>
              <a:rPr sz="2025" b="0">
                <a:solidFill>
                  <a:srgbClr val="596579"/>
                </a:solidFill>
                <a:latin typeface="Helvetica Neue"/>
                <a:ea typeface="Helvetica Neue"/>
                <a:cs typeface="Helvetica Neue"/>
              </a:rPr>
              <a:t>Goal: separate symmetry protection from the choice of block order.</a:t>
            </a:r>
          </a:p>
        </p:txBody>
      </p:sp>
      <p:sp>
        <p:nvSpPr>
          <p:cNvPr id="3" name="">
            <a:extLst xmlns:a="http://schemas.openxmlformats.org/drawingml/2006/main">
              <a:ext uri="{FF2B5EF4-FFF2-40B4-BE49-F238E27FC236}">
                <a16:creationId xmlns:a16="http://schemas.microsoft.com/office/drawing/2014/main" id="{4854817F-925A-41F3-93CB-59EBA4553FDB}"/>
              </a:ext>
            </a:extLst>
          </p:cNvPr>
          <p:cNvSpPr>
            <a:spLocks xmlns:a="http://schemas.openxmlformats.org/drawingml/2006/main" noGrp="1"/>
          </p:cNvSpPr>
          <p:nvPr/>
        </p:nvSpPr>
        <p:spPr>
          <a:xfrm xmlns:a="http://schemas.openxmlformats.org/drawingml/2006/main">
            <a:off x="10896600" y="63722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579"/>
                </a:solidFill>
                <a:latin typeface="Helvetica Neue"/>
                <a:ea typeface="Helvetica Neue"/>
                <a:cs typeface="Helvetica Neue"/>
              </a:defRPr>
            </a:pPr>
            <a:r>
              <a:rPr sz="1350" b="0">
                <a:solidFill>
                  <a:srgbClr val="596579"/>
                </a:solidFill>
                <a:latin typeface="Helvetica Neue"/>
                <a:ea typeface="Helvetica Neue"/>
                <a:cs typeface="Helvetica Neue"/>
              </a:rPr>
              <a:t>2 / 4</a:t>
            </a:r>
          </a:p>
        </p:txBody>
      </p:sp>
      <p:sp>
        <p:nvSpPr>
          <p:cNvPr id="4" name="">
            <a:extLst xmlns:a="http://schemas.openxmlformats.org/drawingml/2006/main">
              <a:ext uri="{FF2B5EF4-FFF2-40B4-BE49-F238E27FC236}">
                <a16:creationId xmlns:a16="http://schemas.microsoft.com/office/drawing/2014/main" id="{E9E472D7-0C64-4923-9E05-6C0DFFF20617}"/>
              </a:ext>
            </a:extLst>
          </p:cNvPr>
          <p:cNvSpPr>
            <a:spLocks xmlns:a="http://schemas.openxmlformats.org/drawingml/2006/main" noGrp="1"/>
          </p:cNvSpPr>
          <p:nvPr/>
        </p:nvSpPr>
        <p:spPr>
          <a:xfrm xmlns:a="http://schemas.openxmlformats.org/drawingml/2006/main">
            <a:off x="647700" y="19907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9295C"/>
                </a:solidFill>
                <a:latin typeface="Helvetica Neue"/>
                <a:ea typeface="Helvetica Neue"/>
                <a:cs typeface="Helvetica Neue"/>
              </a:defRPr>
            </a:pPr>
            <a:r>
              <a:rPr sz="2175" b="1">
                <a:solidFill>
                  <a:srgbClr val="09295C"/>
                </a:solidFill>
                <a:latin typeface="Helvetica Neue"/>
                <a:ea typeface="Helvetica Neue"/>
                <a:cs typeface="Helvetica Neue"/>
              </a:rPr>
              <a:t>F₂, NH₃, Li₂: 129 configurations, including 21 structural controls</a:t>
            </a:r>
          </a:p>
        </p:txBody>
      </p:sp>
      <p:graphicFrame>
        <p:nvGraphicFramePr>
          <p:cNvPr id="12" name=""/>
          <p:cNvGraphicFramePr/>
          <p:nvPr/>
        </p:nvGraphicFramePr>
        <p:xfrm>
          <a:off xmlns:a="http://schemas.openxmlformats.org/drawingml/2006/main" x="647700" y="2638425"/>
          <a:ext xmlns:a="http://schemas.openxmlformats.org/drawingml/2006/main" cx="10858500" cy="2667000"/>
        </p:xfrm>
        <a:graphic xmlns:a="http://schemas.openxmlformats.org/drawingml/2006/main">
          <a:graphicData uri="http://schemas.openxmlformats.org/drawingml/2006/table">
            <a:tbl>
              <a:tblPr firstRow="0" bandRow="0"/>
              <a:tblGrid>
                <a:gridCol w="3486150"/>
                <a:gridCol w="3714750"/>
                <a:gridCol w="3657600"/>
              </a:tblGrid>
              <a:tr h="666750">
                <a:tc>
                  <a:txBody>
                    <a:bodyPr/>
                    <a:lstStyle/>
                    <a:p>
                      <a:r>
                        <a:rPr sz="1950" b="1">
                          <a:solidFill>
                            <a:srgbClr val="FFFFFF"/>
                          </a:solidFill>
                          <a:latin typeface="Helvetica Neue"/>
                          <a:ea typeface="Helvetica Neue"/>
                          <a:cs typeface="Helvetica Neue"/>
                        </a:rPr>
                        <a:t>Intervention</a:t>
                      </a:r>
                    </a:p>
                  </a:txBody>
                  <a:tcPr marL="171450" marR="171450" marT="57150" marB="57150" anchor="ctr">
                    <a:solidFill>
                      <a:srgbClr val="09295C"/>
                    </a:solidFill>
                  </a:tcPr>
                </a:tc>
                <a:tc>
                  <a:txBody>
                    <a:bodyPr/>
                    <a:lstStyle/>
                    <a:p>
                      <a:r>
                        <a:rPr sz="1950" b="1">
                          <a:solidFill>
                            <a:srgbClr val="FFFFFF"/>
                          </a:solidFill>
                          <a:latin typeface="Helvetica Neue"/>
                          <a:ea typeface="Helvetica Neue"/>
                          <a:cs typeface="Helvetica Neue"/>
                        </a:rPr>
                        <a:t>What remains fixed</a:t>
                      </a:r>
                    </a:p>
                  </a:txBody>
                  <a:tcPr marL="171450" marR="171450" marT="57150" marB="57150" anchor="ctr">
                    <a:solidFill>
                      <a:srgbClr val="09295C"/>
                    </a:solidFill>
                  </a:tcPr>
                </a:tc>
                <a:tc>
                  <a:txBody>
                    <a:bodyPr/>
                    <a:lstStyle/>
                    <a:p>
                      <a:r>
                        <a:rPr sz="1950" b="1">
                          <a:solidFill>
                            <a:srgbClr val="FFFFFF"/>
                          </a:solidFill>
                          <a:latin typeface="Helvetica Neue"/>
                          <a:ea typeface="Helvetica Neue"/>
                          <a:cs typeface="Helvetica Neue"/>
                        </a:rPr>
                        <a:t>Observation</a:t>
                      </a:r>
                    </a:p>
                  </a:txBody>
                  <a:tcPr marL="171450" marR="171450" marT="57150" marB="57150" anchor="ctr">
                    <a:solidFill>
                      <a:srgbClr val="09295C"/>
                    </a:solidFill>
                  </a:tcPr>
                </a:tc>
              </a:tr>
              <a:tr h="666750">
                <a:tc>
                  <a:txBody>
                    <a:bodyPr/>
                    <a:lstStyle/>
                    <a:p>
                      <a:r>
                        <a:rPr sz="1950">
                          <a:solidFill>
                            <a:srgbClr val="202B38"/>
                          </a:solidFill>
                          <a:latin typeface="Helvetica Neue"/>
                          <a:ea typeface="Helvetica Neue"/>
                          <a:cs typeface="Helvetica Neue"/>
                        </a:rPr>
                        <a:t>Shuffle within blocks</a:t>
                      </a:r>
                    </a:p>
                  </a:txBody>
                  <a:tcPr marL="171450" marR="171450" marT="57150" marB="57150" anchor="ctr">
                    <a:solidFill>
                      <a:srgbClr val="FFFFFF"/>
                    </a:solidFill>
                  </a:tcPr>
                </a:tc>
                <a:tc>
                  <a:txBody>
                    <a:bodyPr/>
                    <a:lstStyle/>
                    <a:p>
                      <a:r>
                        <a:rPr sz="1950">
                          <a:solidFill>
                            <a:srgbClr val="202B38"/>
                          </a:solidFill>
                          <a:latin typeface="Helvetica Neue"/>
                          <a:ea typeface="Helvetica Neue"/>
                          <a:cs typeface="Helvetica Neue"/>
                        </a:rPr>
                        <a:t>Parent sequence</a:t>
                      </a:r>
                    </a:p>
                  </a:txBody>
                  <a:tcPr marL="171450" marR="171450" marT="57150" marB="57150" anchor="ctr">
                    <a:solidFill>
                      <a:srgbClr val="FFFFFF"/>
                    </a:solidFill>
                  </a:tcPr>
                </a:tc>
                <a:tc>
                  <a:txBody>
                    <a:bodyPr/>
                    <a:lstStyle/>
                    <a:p>
                      <a:r>
                        <a:rPr sz="1950">
                          <a:solidFill>
                            <a:srgbClr val="202B38"/>
                          </a:solidFill>
                          <a:latin typeface="Helvetica Neue"/>
                          <a:ea typeface="Helvetica Neue"/>
                          <a:cs typeface="Helvetica Neue"/>
                        </a:rPr>
                        <a:t>Same result</a:t>
                      </a:r>
                    </a:p>
                  </a:txBody>
                  <a:tcPr marL="171450" marR="171450" marT="57150" marB="57150" anchor="ctr">
                    <a:solidFill>
                      <a:srgbClr val="FFFFFF"/>
                    </a:solidFill>
                  </a:tcPr>
                </a:tc>
              </a:tr>
              <a:tr h="666750">
                <a:tc>
                  <a:txBody>
                    <a:bodyPr/>
                    <a:lstStyle/>
                    <a:p>
                      <a:r>
                        <a:rPr sz="1950">
                          <a:solidFill>
                            <a:srgbClr val="202B38"/>
                          </a:solidFill>
                          <a:latin typeface="Helvetica Neue"/>
                          <a:ea typeface="Helvetica Neue"/>
                          <a:cs typeface="Helvetica Neue"/>
                        </a:rPr>
                        <a:t>Shuffle whole blocks</a:t>
                      </a:r>
                    </a:p>
                  </a:txBody>
                  <a:tcPr marL="171450" marR="171450" marT="57150" marB="57150" anchor="ctr">
                    <a:solidFill>
                      <a:srgbClr val="FFFFFF"/>
                    </a:solidFill>
                  </a:tcPr>
                </a:tc>
                <a:tc>
                  <a:txBody>
                    <a:bodyPr/>
                    <a:lstStyle/>
                    <a:p>
                      <a:r>
                        <a:rPr sz="1950">
                          <a:solidFill>
                            <a:srgbClr val="202B38"/>
                          </a:solidFill>
                          <a:latin typeface="Helvetica Neue"/>
                          <a:ea typeface="Helvetica Neue"/>
                          <a:cs typeface="Helvetica Neue"/>
                        </a:rPr>
                        <a:t>N and Sz conservation</a:t>
                      </a:r>
                    </a:p>
                  </a:txBody>
                  <a:tcPr marL="171450" marR="171450" marT="57150" marB="57150" anchor="ctr">
                    <a:solidFill>
                      <a:srgbClr val="FFFFFF"/>
                    </a:solidFill>
                  </a:tcPr>
                </a:tc>
                <a:tc>
                  <a:txBody>
                    <a:bodyPr/>
                    <a:lstStyle/>
                    <a:p>
                      <a:r>
                        <a:rPr sz="1950">
                          <a:solidFill>
                            <a:srgbClr val="202B38"/>
                          </a:solidFill>
                          <a:latin typeface="Helvetica Neue"/>
                          <a:ea typeface="Helvetica Neue"/>
                          <a:cs typeface="Helvetica Neue"/>
                        </a:rPr>
                        <a:t>Accuracy changes</a:t>
                      </a:r>
                    </a:p>
                  </a:txBody>
                  <a:tcPr marL="171450" marR="171450" marT="57150" marB="57150" anchor="ctr">
                    <a:solidFill>
                      <a:srgbClr val="FFFFFF"/>
                    </a:solidFill>
                  </a:tcPr>
                </a:tc>
              </a:tr>
              <a:tr h="666750">
                <a:tc>
                  <a:txBody>
                    <a:bodyPr/>
                    <a:lstStyle/>
                    <a:p>
                      <a:r>
                        <a:rPr sz="1950">
                          <a:solidFill>
                            <a:srgbClr val="202B38"/>
                          </a:solidFill>
                          <a:latin typeface="Helvetica Neue"/>
                          <a:ea typeface="Helvetica Neue"/>
                          <a:cs typeface="Helvetica Neue"/>
                        </a:rPr>
                        <a:t>Interleave descendants</a:t>
                      </a:r>
                    </a:p>
                  </a:txBody>
                  <a:tcPr marL="171450" marR="171450" marT="57150" marB="57150" anchor="ctr">
                    <a:solidFill>
                      <a:srgbClr val="FFFFFF"/>
                    </a:solidFill>
                  </a:tcPr>
                </a:tc>
                <a:tc>
                  <a:txBody>
                    <a:bodyPr/>
                    <a:lstStyle/>
                    <a:p>
                      <a:r>
                        <a:rPr sz="1950">
                          <a:solidFill>
                            <a:srgbClr val="202B38"/>
                          </a:solidFill>
                          <a:latin typeface="Helvetica Neue"/>
                          <a:ea typeface="Helvetica Neue"/>
                          <a:cs typeface="Helvetica Neue"/>
                        </a:rPr>
                        <a:t>Same Pauli terms</a:t>
                      </a:r>
                    </a:p>
                  </a:txBody>
                  <a:tcPr marL="171450" marR="171450" marT="57150" marB="57150" anchor="ctr">
                    <a:solidFill>
                      <a:srgbClr val="FFFFFF"/>
                    </a:solidFill>
                  </a:tcPr>
                </a:tc>
                <a:tc>
                  <a:txBody>
                    <a:bodyPr/>
                    <a:lstStyle/>
                    <a:p>
                      <a:r>
                        <a:rPr sz="1950">
                          <a:solidFill>
                            <a:srgbClr val="202B38"/>
                          </a:solidFill>
                          <a:latin typeface="Helvetica Neue"/>
                          <a:ea typeface="Helvetica Neue"/>
                          <a:cs typeface="Helvetica Neue"/>
                        </a:rPr>
                        <a:t>F₂ improves</a:t>
                      </a:r>
                    </a:p>
                    <a:p>
                      <a:r>
                        <a:rPr sz="1950">
                          <a:solidFill>
                            <a:srgbClr val="202B38"/>
                          </a:solidFill>
                          <a:latin typeface="Helvetica Neue"/>
                          <a:ea typeface="Helvetica Neue"/>
                          <a:cs typeface="Helvetica Neue"/>
                        </a:rPr>
                        <a:t>NH₃ and Li₂ worsen</a:t>
                      </a:r>
                    </a:p>
                  </a:txBody>
                  <a:tcPr marL="171450" marR="171450" marT="57150" marB="571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3050116-8899-4205-A245-805E76C98F79}"/>
              </a:ext>
            </a:extLst>
          </p:cNvPr>
          <p:cNvSpPr>
            <a:spLocks xmlns:a="http://schemas.openxmlformats.org/drawingml/2006/main" noGrp="1"/>
          </p:cNvSpPr>
          <p:nvPr/>
        </p:nvSpPr>
        <p:spPr>
          <a:xfrm xmlns:a="http://schemas.openxmlformats.org/drawingml/2006/main">
            <a:off x="647700" y="5648325"/>
            <a:ext cx="10839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9295C"/>
                </a:solidFill>
                <a:latin typeface="Helvetica Neue"/>
                <a:ea typeface="Helvetica Neue"/>
                <a:cs typeface="Helvetica Neue"/>
              </a:defRPr>
            </a:pPr>
            <a:r>
              <a:rPr sz="2325" b="1">
                <a:solidFill>
                  <a:srgbClr val="09295C"/>
                </a:solidFill>
                <a:latin typeface="Helvetica Neue"/>
                <a:ea typeface="Helvetica Neue"/>
                <a:cs typeface="Helvetica Neue"/>
              </a:rPr>
              <a:t>Whole-block permutations retain symmetry while changing the error.</a:t>
            </a:r>
          </a:p>
        </p:txBody>
      </p:sp>
      <p:sp>
        <p:nvSpPr>
          <p:cNvPr id="7" name="">
            <a:extLst xmlns:a="http://schemas.openxmlformats.org/drawingml/2006/main">
              <a:ext uri="{FF2B5EF4-FFF2-40B4-BE49-F238E27FC236}">
                <a16:creationId xmlns:a16="http://schemas.microsoft.com/office/drawing/2014/main" id="{E03E894D-CEAD-4B8A-B352-E24C46206D80}"/>
              </a:ext>
            </a:extLst>
          </p:cNvPr>
          <p:cNvSpPr>
            <a:spLocks xmlns:a="http://schemas.openxmlformats.org/drawingml/2006/main" noGrp="1"/>
          </p:cNvSpPr>
          <p:nvPr/>
        </p:nvSpPr>
        <p:spPr>
          <a:xfrm xmlns:a="http://schemas.openxmlformats.org/drawingml/2006/main">
            <a:off x="647700" y="6362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96579"/>
                </a:solidFill>
                <a:latin typeface="Helvetica Neue"/>
                <a:ea typeface="Helvetica Neue"/>
                <a:cs typeface="Helvetica Neue"/>
              </a:defRPr>
            </a:pPr>
            <a:r>
              <a:rPr sz="1425" b="0">
                <a:solidFill>
                  <a:srgbClr val="596579"/>
                </a:solidFill>
                <a:latin typeface="Helvetica Neue"/>
                <a:ea typeface="Helvetica Neue"/>
                <a:cs typeface="Helvetica Neue"/>
              </a:rPr>
              <a:t>Fixed Hamiltonians and inputs. The result of a block permutation is case dependent.</a:t>
            </a:r>
          </a:p>
        </p:txBody>
      </p:sp>
    </p:spTree>
    <p:extLst>
      <p:ext uri="{BB962C8B-B14F-4D97-AF65-F5344CB8AC3E}">
        <p14:creationId xmlns:p14="http://schemas.microsoft.com/office/powerpoint/2010/main" val="1267220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81829F-CE15-4573-8E54-ACC35C82EEEC}"/>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09295C"/>
                </a:solidFill>
                <a:latin typeface="Helvetica Neue"/>
                <a:ea typeface="Helvetica Neue"/>
                <a:cs typeface="Helvetica Neue"/>
              </a:defRPr>
            </a:pPr>
            <a:r>
              <a:rPr sz="3450" b="1">
                <a:solidFill>
                  <a:srgbClr val="09295C"/>
                </a:solidFill>
                <a:latin typeface="Helvetica Neue"/>
                <a:ea typeface="Helvetica Neue"/>
                <a:cs typeface="Helvetica Neue"/>
              </a:rPr>
              <a:t>Test 2: the F₂ ranking reversal</a:t>
            </a:r>
          </a:p>
        </p:txBody>
      </p:sp>
      <p:sp>
        <p:nvSpPr>
          <p:cNvPr id="2" name="">
            <a:extLst xmlns:a="http://schemas.openxmlformats.org/drawingml/2006/main">
              <a:ext uri="{FF2B5EF4-FFF2-40B4-BE49-F238E27FC236}">
                <a16:creationId xmlns:a16="http://schemas.microsoft.com/office/drawing/2014/main" id="{34576BB3-AE3B-4680-AD3D-91F140D0B47E}"/>
              </a:ext>
            </a:extLst>
          </p:cNvPr>
          <p:cNvSpPr>
            <a:spLocks xmlns:a="http://schemas.openxmlformats.org/drawingml/2006/main" noGrp="1"/>
          </p:cNvSpPr>
          <p:nvPr/>
        </p:nvSpPr>
        <p:spPr>
          <a:xfrm xmlns:a="http://schemas.openxmlformats.org/drawingml/2006/main">
            <a:off x="647700" y="124777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596579"/>
                </a:solidFill>
                <a:latin typeface="Helvetica Neue"/>
                <a:ea typeface="Helvetica Neue"/>
                <a:cs typeface="Helvetica Neue"/>
              </a:defRPr>
            </a:pPr>
            <a:r>
              <a:rPr sz="2025" b="0">
                <a:solidFill>
                  <a:srgbClr val="596579"/>
                </a:solidFill>
                <a:latin typeface="Helvetica Neue"/>
                <a:ea typeface="Helvetica Neue"/>
                <a:cs typeface="Helvetica Neue"/>
              </a:rPr>
              <a:t>F₂, r=100: E(JW signed) / E(Fermionic signed). Values below 1 favor JW.</a:t>
            </a:r>
          </a:p>
        </p:txBody>
      </p:sp>
      <p:sp>
        <p:nvSpPr>
          <p:cNvPr id="3" name="">
            <a:extLst xmlns:a="http://schemas.openxmlformats.org/drawingml/2006/main">
              <a:ext uri="{FF2B5EF4-FFF2-40B4-BE49-F238E27FC236}">
                <a16:creationId xmlns:a16="http://schemas.microsoft.com/office/drawing/2014/main" id="{A67F78EE-BAF5-4C4F-9730-10F88D72ED5D}"/>
              </a:ext>
            </a:extLst>
          </p:cNvPr>
          <p:cNvSpPr>
            <a:spLocks xmlns:a="http://schemas.openxmlformats.org/drawingml/2006/main" noGrp="1"/>
          </p:cNvSpPr>
          <p:nvPr/>
        </p:nvSpPr>
        <p:spPr>
          <a:xfrm xmlns:a="http://schemas.openxmlformats.org/drawingml/2006/main">
            <a:off x="10896600" y="63722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579"/>
                </a:solidFill>
                <a:latin typeface="Helvetica Neue"/>
                <a:ea typeface="Helvetica Neue"/>
                <a:cs typeface="Helvetica Neue"/>
              </a:defRPr>
            </a:pPr>
            <a:r>
              <a:rPr sz="1350" b="0">
                <a:solidFill>
                  <a:srgbClr val="596579"/>
                </a:solidFill>
                <a:latin typeface="Helvetica Neue"/>
                <a:ea typeface="Helvetica Neue"/>
                <a:cs typeface="Helvetica Neue"/>
              </a:rPr>
              <a:t>3 / 4</a:t>
            </a:r>
          </a:p>
        </p:txBody>
      </p:sp>
      <p:graphicFrame>
        <p:nvGraphicFramePr>
          <p:cNvPr id="15" name="Chart"/>
          <p:cNvGraphicFramePr/>
          <p:nvPr/>
        </p:nvGraphicFramePr>
        <p:xfrm>
          <a:off xmlns:a="http://schemas.openxmlformats.org/drawingml/2006/main" x="666750" y="2085975"/>
          <a:ext xmlns:a="http://schemas.openxmlformats.org/drawingml/2006/main" cx="6934200" cy="3562350"/>
        </p:xfrm>
        <a:graphic xmlns:a="http://schemas.openxmlformats.org/drawingml/2006/main">
          <a:graphicData uri="http://schemas.openxmlformats.org/drawingml/2006/chart">
            <c:chart xmlns:r="http://schemas.openxmlformats.org/officeDocument/2006/relationships" xmlns:c="http://schemas.openxmlformats.org/drawingml/2006/chart" r:id="R99549ae7eeaa450b"/>
          </a:graphicData>
        </a:graphic>
      </p:graphicFrame>
      <p:sp>
        <p:nvSpPr>
          <p:cNvPr id="5" name="">
            <a:extLst xmlns:a="http://schemas.openxmlformats.org/drawingml/2006/main">
              <a:ext uri="{FF2B5EF4-FFF2-40B4-BE49-F238E27FC236}">
                <a16:creationId xmlns:a16="http://schemas.microsoft.com/office/drawing/2014/main" id="{EA0655B6-3E17-4865-BF87-F43E24118FAC}"/>
              </a:ext>
            </a:extLst>
          </p:cNvPr>
          <p:cNvSpPr>
            <a:spLocks xmlns:a="http://schemas.openxmlformats.org/drawingml/2006/main" noGrp="1"/>
          </p:cNvSpPr>
          <p:nvPr/>
        </p:nvSpPr>
        <p:spPr>
          <a:xfrm xmlns:a="http://schemas.openxmlformats.org/drawingml/2006/main">
            <a:off x="8020050" y="2076450"/>
            <a:ext cx="352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9295C"/>
                </a:solidFill>
                <a:latin typeface="Helvetica Neue"/>
                <a:ea typeface="Helvetica Neue"/>
                <a:cs typeface="Helvetica Neue"/>
              </a:defRPr>
            </a:pPr>
            <a:r>
              <a:rPr sz="2325" b="1">
                <a:solidFill>
                  <a:srgbClr val="09295C"/>
                </a:solidFill>
                <a:latin typeface="Helvetica Neue"/>
                <a:ea typeface="Helvetica Neue"/>
                <a:cs typeface="Helvetica Neue"/>
              </a:rPr>
              <a:t>At T=1, r=100</a:t>
            </a:r>
          </a:p>
        </p:txBody>
      </p:sp>
      <p:sp>
        <p:nvSpPr>
          <p:cNvPr id="6" name="">
            <a:extLst xmlns:a="http://schemas.openxmlformats.org/drawingml/2006/main">
              <a:ext uri="{FF2B5EF4-FFF2-40B4-BE49-F238E27FC236}">
                <a16:creationId xmlns:a16="http://schemas.microsoft.com/office/drawing/2014/main" id="{478330DD-02A8-4DC0-8604-0909E6744780}"/>
              </a:ext>
            </a:extLst>
          </p:cNvPr>
          <p:cNvSpPr>
            <a:spLocks xmlns:a="http://schemas.openxmlformats.org/drawingml/2006/main" noGrp="1"/>
          </p:cNvSpPr>
          <p:nvPr/>
        </p:nvSpPr>
        <p:spPr>
          <a:xfrm xmlns:a="http://schemas.openxmlformats.org/drawingml/2006/main">
            <a:off x="8020050" y="2609850"/>
            <a:ext cx="3543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96579"/>
                </a:solidFill>
                <a:latin typeface="Helvetica Neue"/>
                <a:ea typeface="Helvetica Neue"/>
                <a:cs typeface="Helvetica Neue"/>
              </a:defRPr>
            </a:pPr>
            <a:r>
              <a:rPr sz="1725" b="0">
                <a:solidFill>
                  <a:srgbClr val="596579"/>
                </a:solidFill>
                <a:latin typeface="Helvetica Neue"/>
                <a:ea typeface="Helvetica Neue"/>
                <a:cs typeface="Helvetica Neue"/>
              </a:rPr>
              <a:t>JW / Fermionic ratios</a:t>
            </a:r>
          </a:p>
        </p:txBody>
      </p:sp>
      <p:sp>
        <p:nvSpPr>
          <p:cNvPr id="7" name="">
            <a:extLst xmlns:a="http://schemas.openxmlformats.org/drawingml/2006/main">
              <a:ext uri="{FF2B5EF4-FFF2-40B4-BE49-F238E27FC236}">
                <a16:creationId xmlns:a16="http://schemas.microsoft.com/office/drawing/2014/main" id="{9F236EC1-19B6-49CE-AF93-609FF35FDE8A}"/>
              </a:ext>
            </a:extLst>
          </p:cNvPr>
          <p:cNvSpPr>
            <a:spLocks xmlns:a="http://schemas.openxmlformats.org/drawingml/2006/main" noGrp="1"/>
          </p:cNvSpPr>
          <p:nvPr/>
        </p:nvSpPr>
        <p:spPr>
          <a:xfrm xmlns:a="http://schemas.openxmlformats.org/drawingml/2006/main">
            <a:off x="8020050" y="3086100"/>
            <a:ext cx="35433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202B38"/>
                </a:solidFill>
                <a:latin typeface="Helvetica Neue"/>
                <a:ea typeface="Helvetica Neue"/>
                <a:cs typeface="Helvetica Neue"/>
              </a:defRPr>
            </a:pPr>
            <a:r>
              <a:rPr sz="2025" b="0">
                <a:solidFill>
                  <a:srgbClr val="202B38"/>
                </a:solidFill>
                <a:latin typeface="Helvetica Neue"/>
                <a:ea typeface="Helvetica Neue"/>
                <a:cs typeface="Helvetica Neue"/>
              </a:rPr>
              <a:t>17.1× local error power</a:t>
            </a:r>
          </a:p>
          <a:p xmlns:a="http://schemas.openxmlformats.org/drawingml/2006/main">
            <a:pPr>
              <a:defRPr sz="2025" b="0">
                <a:solidFill>
                  <a:srgbClr val="202B38"/>
                </a:solidFill>
                <a:latin typeface="Helvetica Neue"/>
                <a:ea typeface="Helvetica Neue"/>
                <a:cs typeface="Helvetica Neue"/>
              </a:defRPr>
            </a:pPr>
            <a:r>
              <a:rPr sz="2025" b="0">
                <a:solidFill>
                  <a:srgbClr val="202B38"/>
                </a:solidFill>
                <a:latin typeface="Helvetica Neue"/>
                <a:ea typeface="Helvetica Neue"/>
                <a:cs typeface="Helvetica Neue"/>
              </a:rPr>
              <a:t>0.024× accumulation factor</a:t>
            </a:r>
          </a:p>
          <a:p xmlns:a="http://schemas.openxmlformats.org/drawingml/2006/main">
            <a:pPr>
              <a:defRPr sz="2025" b="0">
                <a:solidFill>
                  <a:srgbClr val="202B38"/>
                </a:solidFill>
                <a:latin typeface="Helvetica Neue"/>
                <a:ea typeface="Helvetica Neue"/>
                <a:cs typeface="Helvetica Neue"/>
              </a:defRPr>
            </a:pPr>
            <a:r>
              <a:rPr sz="2025" b="0">
                <a:solidFill>
                  <a:srgbClr val="202B38"/>
                </a:solidFill>
                <a:latin typeface="Helvetica Neue"/>
                <a:ea typeface="Helvetica Neue"/>
                <a:cs typeface="Helvetica Neue"/>
              </a:rPr>
              <a:t>0.411× final infidelity</a:t>
            </a:r>
          </a:p>
        </p:txBody>
      </p:sp>
      <p:sp>
        <p:nvSpPr>
          <p:cNvPr id="8" name="">
            <a:extLst xmlns:a="http://schemas.openxmlformats.org/drawingml/2006/main">
              <a:ext uri="{FF2B5EF4-FFF2-40B4-BE49-F238E27FC236}">
                <a16:creationId xmlns:a16="http://schemas.microsoft.com/office/drawing/2014/main" id="{181BF120-2D3D-4716-BA0B-220D213D7D41}"/>
              </a:ext>
            </a:extLst>
          </p:cNvPr>
          <p:cNvSpPr>
            <a:spLocks xmlns:a="http://schemas.openxmlformats.org/drawingml/2006/main" noGrp="1"/>
          </p:cNvSpPr>
          <p:nvPr/>
        </p:nvSpPr>
        <p:spPr>
          <a:xfrm xmlns:a="http://schemas.openxmlformats.org/drawingml/2006/main">
            <a:off x="8020050" y="4476750"/>
            <a:ext cx="3543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8F83"/>
                </a:solidFill>
                <a:latin typeface="Helvetica Neue"/>
                <a:ea typeface="Helvetica Neue"/>
                <a:cs typeface="Helvetica Neue"/>
              </a:defRPr>
            </a:pPr>
            <a:r>
              <a:rPr sz="2100" b="1">
                <a:solidFill>
                  <a:srgbClr val="008F83"/>
                </a:solidFill>
                <a:latin typeface="Helvetica Neue"/>
                <a:ea typeface="Helvetica Neue"/>
                <a:cs typeface="Helvetica Neue"/>
              </a:rPr>
              <a:t>Unfitted BCH propagation</a:t>
            </a:r>
          </a:p>
        </p:txBody>
      </p:sp>
      <p:sp>
        <p:nvSpPr>
          <p:cNvPr id="9" name="">
            <a:extLst xmlns:a="http://schemas.openxmlformats.org/drawingml/2006/main">
              <a:ext uri="{FF2B5EF4-FFF2-40B4-BE49-F238E27FC236}">
                <a16:creationId xmlns:a16="http://schemas.microsoft.com/office/drawing/2014/main" id="{67100C83-B391-458B-9A44-29E86DE760A7}"/>
              </a:ext>
            </a:extLst>
          </p:cNvPr>
          <p:cNvSpPr>
            <a:spLocks xmlns:a="http://schemas.openxmlformats.org/drawingml/2006/main" noGrp="1"/>
          </p:cNvSpPr>
          <p:nvPr/>
        </p:nvSpPr>
        <p:spPr>
          <a:xfrm xmlns:a="http://schemas.openxmlformats.org/drawingml/2006/main">
            <a:off x="8020050" y="4972050"/>
            <a:ext cx="35433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02B38"/>
                </a:solidFill>
                <a:latin typeface="Helvetica Neue"/>
                <a:ea typeface="Helvetica Neue"/>
                <a:cs typeface="Helvetica Neue"/>
              </a:defRPr>
            </a:pPr>
            <a:r>
              <a:rPr sz="1875" b="0">
                <a:solidFill>
                  <a:srgbClr val="202B38"/>
                </a:solidFill>
                <a:latin typeface="Helvetica Neue"/>
                <a:ea typeface="Helvetica Neue"/>
                <a:cs typeface="Helvetica Neue"/>
              </a:rPr>
              <a:t>&lt;0.060% maximum relative</a:t>
            </a:r>
          </a:p>
          <a:p xmlns:a="http://schemas.openxmlformats.org/drawingml/2006/main">
            <a:pPr>
              <a:defRPr sz="1875" b="0">
                <a:solidFill>
                  <a:srgbClr val="202B38"/>
                </a:solidFill>
                <a:latin typeface="Helvetica Neue"/>
                <a:ea typeface="Helvetica Neue"/>
                <a:cs typeface="Helvetica Neue"/>
              </a:defRPr>
            </a:pPr>
            <a:r>
              <a:rPr sz="1875" b="0">
                <a:solidFill>
                  <a:srgbClr val="202B38"/>
                </a:solidFill>
                <a:latin typeface="Helvetica Neue"/>
                <a:ea typeface="Helvetica Neue"/>
                <a:cs typeface="Helvetica Neue"/>
              </a:rPr>
              <a:t>difference at r=100 on F₂</a:t>
            </a:r>
          </a:p>
        </p:txBody>
      </p:sp>
      <p:sp>
        <p:nvSpPr>
          <p:cNvPr id="10" name="">
            <a:extLst xmlns:a="http://schemas.openxmlformats.org/drawingml/2006/main">
              <a:ext uri="{FF2B5EF4-FFF2-40B4-BE49-F238E27FC236}">
                <a16:creationId xmlns:a16="http://schemas.microsoft.com/office/drawing/2014/main" id="{2136CCD1-3440-4159-AFD0-A851D5B96BA3}"/>
              </a:ext>
            </a:extLst>
          </p:cNvPr>
          <p:cNvSpPr>
            <a:spLocks xmlns:a="http://schemas.openxmlformats.org/drawingml/2006/main" noGrp="1"/>
          </p:cNvSpPr>
          <p:nvPr/>
        </p:nvSpPr>
        <p:spPr>
          <a:xfrm xmlns:a="http://schemas.openxmlformats.org/drawingml/2006/main">
            <a:off x="647700" y="57912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09295C"/>
                </a:solidFill>
                <a:latin typeface="Helvetica Neue"/>
                <a:ea typeface="Helvetica Neue"/>
                <a:cs typeface="Helvetica Neue"/>
              </a:defRPr>
            </a:pPr>
            <a:r>
              <a:rPr sz="2250" b="1">
                <a:solidFill>
                  <a:srgbClr val="09295C"/>
                </a:solidFill>
                <a:latin typeface="Helvetica Neue"/>
                <a:ea typeface="Helvetica Neue"/>
                <a:cs typeface="Helvetica Neue"/>
              </a:rPr>
              <a:t>Time propagation explains why the initial BCH norm misses the ranking.</a:t>
            </a:r>
          </a:p>
        </p:txBody>
      </p:sp>
      <p:sp>
        <p:nvSpPr>
          <p:cNvPr id="11" name="">
            <a:extLst xmlns:a="http://schemas.openxmlformats.org/drawingml/2006/main">
              <a:ext uri="{FF2B5EF4-FFF2-40B4-BE49-F238E27FC236}">
                <a16:creationId xmlns:a16="http://schemas.microsoft.com/office/drawing/2014/main" id="{F91EF053-195D-4FAA-ABDE-9C2A417CA3D4}"/>
              </a:ext>
            </a:extLst>
          </p:cNvPr>
          <p:cNvSpPr>
            <a:spLocks xmlns:a="http://schemas.openxmlformats.org/drawingml/2006/main" noGrp="1"/>
          </p:cNvSpPr>
          <p:nvPr/>
        </p:nvSpPr>
        <p:spPr>
          <a:xfrm xmlns:a="http://schemas.openxmlformats.org/drawingml/2006/main">
            <a:off x="647700" y="6362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579"/>
                </a:solidFill>
                <a:latin typeface="Helvetica Neue"/>
                <a:ea typeface="Helvetica Neue"/>
                <a:cs typeface="Helvetica Neue"/>
              </a:defRPr>
            </a:pPr>
            <a:r>
              <a:rPr sz="1350" b="0">
                <a:solidFill>
                  <a:srgbClr val="596579"/>
                </a:solidFill>
                <a:latin typeface="Helvetica Neue"/>
                <a:ea typeface="Helvetica Neue"/>
                <a:cs typeface="Helvetica Neue"/>
              </a:rPr>
              <a:t>E = 1 − |normalized overlap|. I = 1 − |normalized overlap|². *T=0.75 is exploratory.</a:t>
            </a:r>
          </a:p>
        </p:txBody>
      </p:sp>
    </p:spTree>
    <p:extLst>
      <p:ext uri="{BB962C8B-B14F-4D97-AF65-F5344CB8AC3E}">
        <p14:creationId xmlns:p14="http://schemas.microsoft.com/office/powerpoint/2010/main" val="11603354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F5E7ADC-3288-4DEF-A45D-148FE6024237}"/>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09295C"/>
                </a:solidFill>
                <a:latin typeface="Helvetica Neue"/>
                <a:ea typeface="Helvetica Neue"/>
                <a:cs typeface="Helvetica Neue"/>
              </a:defRPr>
            </a:pPr>
            <a:r>
              <a:rPr sz="3450" b="1">
                <a:solidFill>
                  <a:srgbClr val="09295C"/>
                </a:solidFill>
                <a:latin typeface="Helvetica Neue"/>
                <a:ea typeface="Helvetica Neue"/>
                <a:cs typeface="Helvetica Neue"/>
              </a:rPr>
              <a:t>Test 3: prediction on new molecules</a:t>
            </a:r>
          </a:p>
        </p:txBody>
      </p:sp>
      <p:sp>
        <p:nvSpPr>
          <p:cNvPr id="2" name="">
            <a:extLst xmlns:a="http://schemas.openxmlformats.org/drawingml/2006/main">
              <a:ext uri="{FF2B5EF4-FFF2-40B4-BE49-F238E27FC236}">
                <a16:creationId xmlns:a16="http://schemas.microsoft.com/office/drawing/2014/main" id="{8B0C5034-373C-4D42-B09A-7EBDC9390E63}"/>
              </a:ext>
            </a:extLst>
          </p:cNvPr>
          <p:cNvSpPr>
            <a:spLocks xmlns:a="http://schemas.openxmlformats.org/drawingml/2006/main" noGrp="1"/>
          </p:cNvSpPr>
          <p:nvPr/>
        </p:nvSpPr>
        <p:spPr>
          <a:xfrm xmlns:a="http://schemas.openxmlformats.org/drawingml/2006/main">
            <a:off x="647700" y="124777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596579"/>
                </a:solidFill>
                <a:latin typeface="Helvetica Neue"/>
                <a:ea typeface="Helvetica Neue"/>
                <a:cs typeface="Helvetica Neue"/>
              </a:defRPr>
            </a:pPr>
            <a:r>
              <a:rPr sz="2025" b="0">
                <a:solidFill>
                  <a:srgbClr val="596579"/>
                </a:solidFill>
                <a:latin typeface="Helvetica Neue"/>
                <a:ea typeface="Helvetica Neue"/>
                <a:cs typeface="Helvetica Neue"/>
              </a:rPr>
              <a:t>HCN, CH₂O, H₂S, SiH₄. Two geometries each, 272 configurations, two process runs.</a:t>
            </a:r>
          </a:p>
        </p:txBody>
      </p:sp>
      <p:sp>
        <p:nvSpPr>
          <p:cNvPr id="3" name="">
            <a:extLst xmlns:a="http://schemas.openxmlformats.org/drawingml/2006/main">
              <a:ext uri="{FF2B5EF4-FFF2-40B4-BE49-F238E27FC236}">
                <a16:creationId xmlns:a16="http://schemas.microsoft.com/office/drawing/2014/main" id="{6DA7C9F7-D3F4-4547-B4A6-059681B288E9}"/>
              </a:ext>
            </a:extLst>
          </p:cNvPr>
          <p:cNvSpPr>
            <a:spLocks xmlns:a="http://schemas.openxmlformats.org/drawingml/2006/main" noGrp="1"/>
          </p:cNvSpPr>
          <p:nvPr/>
        </p:nvSpPr>
        <p:spPr>
          <a:xfrm xmlns:a="http://schemas.openxmlformats.org/drawingml/2006/main">
            <a:off x="10896600" y="63722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579"/>
                </a:solidFill>
                <a:latin typeface="Helvetica Neue"/>
                <a:ea typeface="Helvetica Neue"/>
                <a:cs typeface="Helvetica Neue"/>
              </a:defRPr>
            </a:pPr>
            <a:r>
              <a:rPr sz="1350" b="0">
                <a:solidFill>
                  <a:srgbClr val="596579"/>
                </a:solidFill>
                <a:latin typeface="Helvetica Neue"/>
                <a:ea typeface="Helvetica Neue"/>
                <a:cs typeface="Helvetica Neue"/>
              </a:rPr>
              <a:t>4 / 4</a:t>
            </a:r>
          </a:p>
        </p:txBody>
      </p:sp>
      <p:sp>
        <p:nvSpPr>
          <p:cNvPr id="4" name="">
            <a:extLst xmlns:a="http://schemas.openxmlformats.org/drawingml/2006/main">
              <a:ext uri="{FF2B5EF4-FFF2-40B4-BE49-F238E27FC236}">
                <a16:creationId xmlns:a16="http://schemas.microsoft.com/office/drawing/2014/main" id="{4BD056A4-B7B0-4157-A3D1-E64CFDE2086A}"/>
              </a:ext>
            </a:extLst>
          </p:cNvPr>
          <p:cNvSpPr>
            <a:spLocks xmlns:a="http://schemas.openxmlformats.org/drawingml/2006/main" noGrp="1"/>
          </p:cNvSpPr>
          <p:nvPr/>
        </p:nvSpPr>
        <p:spPr>
          <a:xfrm xmlns:a="http://schemas.openxmlformats.org/drawingml/2006/main">
            <a:off x="647700" y="2105025"/>
            <a:ext cx="44862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000" b="1">
                <a:solidFill>
                  <a:srgbClr val="008F83"/>
                </a:solidFill>
                <a:latin typeface="Helvetica Neue"/>
                <a:ea typeface="Helvetica Neue"/>
                <a:cs typeface="Helvetica Neue"/>
              </a:defRPr>
            </a:pPr>
            <a:r>
              <a:rPr sz="6000" b="1">
                <a:solidFill>
                  <a:srgbClr val="008F83"/>
                </a:solidFill>
                <a:latin typeface="Helvetica Neue"/>
                <a:ea typeface="Helvetica Neue"/>
                <a:cs typeface="Helvetica Neue"/>
              </a:rPr>
              <a:t>143 / 143</a:t>
            </a:r>
          </a:p>
        </p:txBody>
      </p:sp>
      <p:sp>
        <p:nvSpPr>
          <p:cNvPr id="5" name="">
            <a:extLst xmlns:a="http://schemas.openxmlformats.org/drawingml/2006/main">
              <a:ext uri="{FF2B5EF4-FFF2-40B4-BE49-F238E27FC236}">
                <a16:creationId xmlns:a16="http://schemas.microsoft.com/office/drawing/2014/main" id="{742AB814-F454-4BD6-BA0B-8766207F200D}"/>
              </a:ext>
            </a:extLst>
          </p:cNvPr>
          <p:cNvSpPr>
            <a:spLocks xmlns:a="http://schemas.openxmlformats.org/drawingml/2006/main" noGrp="1"/>
          </p:cNvSpPr>
          <p:nvPr/>
        </p:nvSpPr>
        <p:spPr>
          <a:xfrm xmlns:a="http://schemas.openxmlformats.org/drawingml/2006/main">
            <a:off x="695325" y="3314700"/>
            <a:ext cx="44481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09295C"/>
                </a:solidFill>
                <a:latin typeface="Helvetica Neue"/>
                <a:ea typeface="Helvetica Neue"/>
                <a:cs typeface="Helvetica Neue"/>
              </a:defRPr>
            </a:pPr>
            <a:r>
              <a:rPr sz="2250" b="1">
                <a:solidFill>
                  <a:srgbClr val="09295C"/>
                </a:solidFill>
                <a:latin typeface="Helvetica Neue"/>
                <a:ea typeface="Helvetica Neue"/>
                <a:cs typeface="Helvetica Neue"/>
              </a:rPr>
              <a:t>Eligible predictions pass</a:t>
            </a:r>
          </a:p>
          <a:p xmlns:a="http://schemas.openxmlformats.org/drawingml/2006/main">
            <a:pPr>
              <a:defRPr sz="2250" b="1">
                <a:solidFill>
                  <a:srgbClr val="09295C"/>
                </a:solidFill>
                <a:latin typeface="Helvetica Neue"/>
                <a:ea typeface="Helvetica Neue"/>
                <a:cs typeface="Helvetica Neue"/>
              </a:defRPr>
            </a:pPr>
            <a:r>
              <a:rPr sz="2250" b="1">
                <a:solidFill>
                  <a:srgbClr val="09295C"/>
                </a:solidFill>
                <a:latin typeface="Helvetica Neue"/>
                <a:ea typeface="Helvetica Neue"/>
                <a:cs typeface="Helvetica Neue"/>
              </a:rPr>
              <a:t>the 5% relative-error criterion</a:t>
            </a:r>
          </a:p>
        </p:txBody>
      </p:sp>
      <p:sp>
        <p:nvSpPr>
          <p:cNvPr id="6" name="">
            <a:extLst xmlns:a="http://schemas.openxmlformats.org/drawingml/2006/main">
              <a:ext uri="{FF2B5EF4-FFF2-40B4-BE49-F238E27FC236}">
                <a16:creationId xmlns:a16="http://schemas.microsoft.com/office/drawing/2014/main" id="{2C038BB3-9394-410F-BF5F-E654FCBEE960}"/>
              </a:ext>
            </a:extLst>
          </p:cNvPr>
          <p:cNvSpPr>
            <a:spLocks xmlns:a="http://schemas.openxmlformats.org/drawingml/2006/main" noGrp="1"/>
          </p:cNvSpPr>
          <p:nvPr/>
        </p:nvSpPr>
        <p:spPr>
          <a:xfrm xmlns:a="http://schemas.openxmlformats.org/drawingml/2006/main">
            <a:off x="695325" y="4486275"/>
            <a:ext cx="4495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202B38"/>
                </a:solidFill>
                <a:latin typeface="Helvetica Neue"/>
                <a:ea typeface="Helvetica Neue"/>
                <a:cs typeface="Helvetica Neue"/>
              </a:defRPr>
            </a:pPr>
            <a:r>
              <a:rPr sz="1950" b="0">
                <a:solidFill>
                  <a:srgbClr val="202B38"/>
                </a:solidFill>
                <a:latin typeface="Helvetica Neue"/>
                <a:ea typeface="Helvetica Neue"/>
                <a:cs typeface="Helvetica Neue"/>
              </a:rPr>
              <a:t>Predictions saved before target runs.</a:t>
            </a:r>
          </a:p>
          <a:p xmlns:a="http://schemas.openxmlformats.org/drawingml/2006/main">
            <a:pPr>
              <a:defRPr sz="1950" b="0">
                <a:solidFill>
                  <a:srgbClr val="202B38"/>
                </a:solidFill>
                <a:latin typeface="Helvetica Neue"/>
                <a:ea typeface="Helvetica Neue"/>
                <a:cs typeface="Helvetica Neue"/>
              </a:defRPr>
            </a:pPr>
            <a:r>
              <a:rPr sz="1950" b="0">
                <a:solidFill>
                  <a:srgbClr val="202B38"/>
                </a:solidFill>
                <a:latin typeface="Helvetica Neue"/>
                <a:ea typeface="Helvetica Neue"/>
                <a:cs typeface="Helvetica Neue"/>
              </a:rPr>
              <a:t>Max. relative I difference at r=100:</a:t>
            </a:r>
          </a:p>
          <a:p xmlns:a="http://schemas.openxmlformats.org/drawingml/2006/main">
            <a:pPr>
              <a:defRPr sz="1950" b="0">
                <a:solidFill>
                  <a:srgbClr val="202B38"/>
                </a:solidFill>
                <a:latin typeface="Helvetica Neue"/>
                <a:ea typeface="Helvetica Neue"/>
                <a:cs typeface="Helvetica Neue"/>
              </a:defRPr>
            </a:pPr>
            <a:r>
              <a:rPr sz="1950" b="0">
                <a:solidFill>
                  <a:srgbClr val="202B38"/>
                </a:solidFill>
                <a:latin typeface="Helvetica Neue"/>
                <a:ea typeface="Helvetica Neue"/>
                <a:cs typeface="Helvetica Neue"/>
              </a:rPr>
              <a:t>0.1015%.</a:t>
            </a:r>
          </a:p>
        </p:txBody>
      </p:sp>
      <p:graphicFrame>
        <p:nvGraphicFramePr>
          <p:cNvPr id="18" name=""/>
          <p:cNvGraphicFramePr/>
          <p:nvPr/>
        </p:nvGraphicFramePr>
        <p:xfrm>
          <a:off xmlns:a="http://schemas.openxmlformats.org/drawingml/2006/main" x="5781675" y="2228850"/>
          <a:ext xmlns:a="http://schemas.openxmlformats.org/drawingml/2006/main" cx="5695950" cy="2057400"/>
        </p:xfrm>
        <a:graphic xmlns:a="http://schemas.openxmlformats.org/drawingml/2006/main">
          <a:graphicData uri="http://schemas.openxmlformats.org/drawingml/2006/table">
            <a:tbl>
              <a:tblPr firstRow="0" bandRow="0"/>
              <a:tblGrid>
                <a:gridCol w="3514725"/>
                <a:gridCol w="2181225"/>
              </a:tblGrid>
              <a:tr h="685800">
                <a:tc>
                  <a:txBody>
                    <a:bodyPr/>
                    <a:lstStyle/>
                    <a:p>
                      <a:r>
                        <a:rPr sz="1950" b="1">
                          <a:solidFill>
                            <a:srgbClr val="FFFFFF"/>
                          </a:solidFill>
                          <a:latin typeface="Helvetica Neue"/>
                          <a:ea typeface="Helvetica Neue"/>
                          <a:cs typeface="Helvetica Neue"/>
                        </a:rPr>
                        <a:t>Best order</a:t>
                      </a:r>
                    </a:p>
                  </a:txBody>
                  <a:tcPr marL="171450" marR="171450" marT="57150" marB="57150" anchor="ctr">
                    <a:solidFill>
                      <a:srgbClr val="09295C"/>
                    </a:solidFill>
                  </a:tcPr>
                </a:tc>
                <a:tc>
                  <a:txBody>
                    <a:bodyPr/>
                    <a:lstStyle/>
                    <a:p>
                      <a:r>
                        <a:rPr sz="1950" b="1">
                          <a:solidFill>
                            <a:srgbClr val="FFFFFF"/>
                          </a:solidFill>
                          <a:latin typeface="Helvetica Neue"/>
                          <a:ea typeface="Helvetica Neue"/>
                          <a:cs typeface="Helvetica Neue"/>
                        </a:rPr>
                        <a:t>8 anchors</a:t>
                      </a:r>
                    </a:p>
                  </a:txBody>
                  <a:tcPr marL="171450" marR="171450" marT="57150" marB="57150" anchor="ctr">
                    <a:solidFill>
                      <a:srgbClr val="09295C"/>
                    </a:solidFill>
                  </a:tcPr>
                </a:tc>
              </a:tr>
              <a:tr h="685800">
                <a:tc>
                  <a:txBody>
                    <a:bodyPr/>
                    <a:lstStyle/>
                    <a:p>
                      <a:r>
                        <a:rPr sz="1950">
                          <a:solidFill>
                            <a:srgbClr val="202B38"/>
                          </a:solidFill>
                          <a:latin typeface="Helvetica Neue"/>
                          <a:ea typeface="Helvetica Neue"/>
                          <a:cs typeface="Helvetica Neue"/>
                        </a:rPr>
                        <a:t>JW signed</a:t>
                      </a:r>
                    </a:p>
                  </a:txBody>
                  <a:tcPr marL="171450" marR="171450" marT="57150" marB="57150" anchor="ctr">
                    <a:solidFill>
                      <a:srgbClr val="FFFFFF"/>
                    </a:solidFill>
                  </a:tcPr>
                </a:tc>
                <a:tc>
                  <a:txBody>
                    <a:bodyPr/>
                    <a:lstStyle/>
                    <a:p>
                      <a:r>
                        <a:rPr sz="1950">
                          <a:solidFill>
                            <a:srgbClr val="202B38"/>
                          </a:solidFill>
                          <a:latin typeface="Helvetica Neue"/>
                          <a:ea typeface="Helvetica Neue"/>
                          <a:cs typeface="Helvetica Neue"/>
                        </a:rPr>
                        <a:t>6</a:t>
                      </a:r>
                    </a:p>
                  </a:txBody>
                  <a:tcPr marL="171450" marR="171450" marT="57150" marB="57150" anchor="ctr">
                    <a:solidFill>
                      <a:srgbClr val="FFFFFF"/>
                    </a:solidFill>
                  </a:tcPr>
                </a:tc>
              </a:tr>
              <a:tr h="685800">
                <a:tc>
                  <a:txBody>
                    <a:bodyPr/>
                    <a:lstStyle/>
                    <a:p>
                      <a:r>
                        <a:rPr sz="1950">
                          <a:solidFill>
                            <a:srgbClr val="202B38"/>
                          </a:solidFill>
                          <a:latin typeface="Helvetica Neue"/>
                          <a:ea typeface="Helvetica Neue"/>
                          <a:cs typeface="Helvetica Neue"/>
                        </a:rPr>
                        <a:t>Fermionic signed</a:t>
                      </a:r>
                    </a:p>
                  </a:txBody>
                  <a:tcPr marL="171450" marR="171450" marT="57150" marB="57150" anchor="ctr">
                    <a:solidFill>
                      <a:srgbClr val="FFFFFF"/>
                    </a:solidFill>
                  </a:tcPr>
                </a:tc>
                <a:tc>
                  <a:txBody>
                    <a:bodyPr/>
                    <a:lstStyle/>
                    <a:p>
                      <a:r>
                        <a:rPr sz="1950">
                          <a:solidFill>
                            <a:srgbClr val="202B38"/>
                          </a:solidFill>
                          <a:latin typeface="Helvetica Neue"/>
                          <a:ea typeface="Helvetica Neue"/>
                          <a:cs typeface="Helvetica Neue"/>
                        </a:rPr>
                        <a:t>2</a:t>
                      </a:r>
                    </a:p>
                  </a:txBody>
                  <a:tcPr marL="171450" marR="171450" marT="57150" marB="571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3BC8690-FB11-4BC4-AB89-908A62324A63}"/>
              </a:ext>
            </a:extLst>
          </p:cNvPr>
          <p:cNvSpPr>
            <a:spLocks xmlns:a="http://schemas.openxmlformats.org/drawingml/2006/main" noGrp="1"/>
          </p:cNvSpPr>
          <p:nvPr/>
        </p:nvSpPr>
        <p:spPr>
          <a:xfrm xmlns:a="http://schemas.openxmlformats.org/drawingml/2006/main">
            <a:off x="5829300" y="4438650"/>
            <a:ext cx="561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96579"/>
                </a:solidFill>
                <a:latin typeface="Helvetica Neue"/>
                <a:ea typeface="Helvetica Neue"/>
                <a:cs typeface="Helvetica Neue"/>
              </a:defRPr>
            </a:pPr>
            <a:r>
              <a:rPr sz="1650" b="0">
                <a:solidFill>
                  <a:srgbClr val="596579"/>
                </a:solidFill>
                <a:latin typeface="Helvetica Neue"/>
                <a:ea typeface="Helvetica Neue"/>
                <a:cs typeface="Helvetica Neue"/>
              </a:rPr>
              <a:t>T=1, r=100, three orderings compared</a:t>
            </a:r>
          </a:p>
        </p:txBody>
      </p:sp>
      <p:sp>
        <p:nvSpPr>
          <p:cNvPr id="9" name="">
            <a:extLst xmlns:a="http://schemas.openxmlformats.org/drawingml/2006/main">
              <a:ext uri="{FF2B5EF4-FFF2-40B4-BE49-F238E27FC236}">
                <a16:creationId xmlns:a16="http://schemas.microsoft.com/office/drawing/2014/main" id="{8201EADD-50B3-43DB-AE7E-4F1A8F11D31A}"/>
              </a:ext>
            </a:extLst>
          </p:cNvPr>
          <p:cNvSpPr>
            <a:spLocks xmlns:a="http://schemas.openxmlformats.org/drawingml/2006/main" noGrp="1"/>
          </p:cNvSpPr>
          <p:nvPr/>
        </p:nvSpPr>
        <p:spPr>
          <a:xfrm xmlns:a="http://schemas.openxmlformats.org/drawingml/2006/main">
            <a:off x="5829300" y="5067300"/>
            <a:ext cx="5619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9295C"/>
                </a:solidFill>
                <a:latin typeface="Helvetica Neue"/>
                <a:ea typeface="Helvetica Neue"/>
                <a:cs typeface="Helvetica Neue"/>
              </a:defRPr>
            </a:pPr>
            <a:r>
              <a:rPr sz="2175" b="1">
                <a:solidFill>
                  <a:srgbClr val="09295C"/>
                </a:solidFill>
                <a:latin typeface="Helvetica Neue"/>
                <a:ea typeface="Helvetica Neue"/>
                <a:cs typeface="Helvetica Neue"/>
              </a:rPr>
              <a:t>Dynamic and static HF-BCH</a:t>
            </a:r>
          </a:p>
          <a:p xmlns:a="http://schemas.openxmlformats.org/drawingml/2006/main">
            <a:pPr>
              <a:defRPr sz="2175" b="1">
                <a:solidFill>
                  <a:srgbClr val="09295C"/>
                </a:solidFill>
                <a:latin typeface="Helvetica Neue"/>
                <a:ea typeface="Helvetica Neue"/>
                <a:cs typeface="Helvetica Neue"/>
              </a:defRPr>
            </a:pPr>
            <a:r>
              <a:rPr sz="2175" b="1">
                <a:solidFill>
                  <a:srgbClr val="09295C"/>
                </a:solidFill>
                <a:latin typeface="Helvetica Neue"/>
                <a:ea typeface="Helvetica Neue"/>
                <a:cs typeface="Helvetica Neue"/>
              </a:rPr>
              <a:t>both rank 72/72 pairs correctly.</a:t>
            </a:r>
          </a:p>
        </p:txBody>
      </p:sp>
      <p:sp>
        <p:nvSpPr>
          <p:cNvPr id="10" name="">
            <a:extLst xmlns:a="http://schemas.openxmlformats.org/drawingml/2006/main">
              <a:ext uri="{FF2B5EF4-FFF2-40B4-BE49-F238E27FC236}">
                <a16:creationId xmlns:a16="http://schemas.microsoft.com/office/drawing/2014/main" id="{699E45B5-50CC-4C92-A842-DB83CA0A80FC}"/>
              </a:ext>
            </a:extLst>
          </p:cNvPr>
          <p:cNvSpPr>
            <a:spLocks xmlns:a="http://schemas.openxmlformats.org/drawingml/2006/main" noGrp="1"/>
          </p:cNvSpPr>
          <p:nvPr/>
        </p:nvSpPr>
        <p:spPr>
          <a:xfrm xmlns:a="http://schemas.openxmlformats.org/drawingml/2006/main">
            <a:off x="647700" y="5819775"/>
            <a:ext cx="10839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09295C"/>
                </a:solidFill>
                <a:latin typeface="Helvetica Neue"/>
                <a:ea typeface="Helvetica Neue"/>
                <a:cs typeface="Helvetica Neue"/>
              </a:defRPr>
            </a:pPr>
            <a:r>
              <a:rPr sz="2250" b="1">
                <a:solidFill>
                  <a:srgbClr val="09295C"/>
                </a:solidFill>
                <a:latin typeface="Helvetica Neue"/>
                <a:ea typeface="Helvetica Neue"/>
                <a:cs typeface="Helvetica Neue"/>
              </a:rPr>
              <a:t>Accurate error prediction, with no general fermionic accuracy advantage.</a:t>
            </a:r>
          </a:p>
        </p:txBody>
      </p:sp>
      <p:sp>
        <p:nvSpPr>
          <p:cNvPr id="11" name="">
            <a:extLst xmlns:a="http://schemas.openxmlformats.org/drawingml/2006/main">
              <a:ext uri="{FF2B5EF4-FFF2-40B4-BE49-F238E27FC236}">
                <a16:creationId xmlns:a16="http://schemas.microsoft.com/office/drawing/2014/main" id="{8968D10E-3F0B-489C-999B-6CB401AAF295}"/>
              </a:ext>
            </a:extLst>
          </p:cNvPr>
          <p:cNvSpPr>
            <a:spLocks xmlns:a="http://schemas.openxmlformats.org/drawingml/2006/main" noGrp="1"/>
          </p:cNvSpPr>
          <p:nvPr/>
        </p:nvSpPr>
        <p:spPr>
          <a:xfrm xmlns:a="http://schemas.openxmlformats.org/drawingml/2006/main">
            <a:off x="647700" y="6362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96579"/>
                </a:solidFill>
                <a:latin typeface="Helvetica Neue"/>
                <a:ea typeface="Helvetica Neue"/>
                <a:cs typeface="Helvetica Neue"/>
              </a:defRPr>
            </a:pPr>
            <a:r>
              <a:rPr sz="1350" b="0">
                <a:solidFill>
                  <a:srgbClr val="596579"/>
                </a:solidFill>
                <a:latin typeface="Helvetica Neue"/>
                <a:ea typeface="Helvetica Neue"/>
                <a:cs typeface="Helvetica Neue"/>
              </a:rPr>
              <a:t>6-31g, CAS(4e,5o), HF, first order. Criterion tested at r=100 or 200, above the error floor.</a:t>
            </a:r>
          </a:p>
        </p:txBody>
      </p:sp>
    </p:spTree>
    <p:extLst>
      <p:ext uri="{BB962C8B-B14F-4D97-AF65-F5344CB8AC3E}">
        <p14:creationId xmlns:p14="http://schemas.microsoft.com/office/powerpoint/2010/main" val="2335115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2026-10-06T16:07:42.0030000Z</dcterms:created>
  <dcterms:modified xsi:type="dcterms:W3CDTF">2026-10-06T16:07:42.0030000Z</dcterms:modified>
</coreProperties>
</file>